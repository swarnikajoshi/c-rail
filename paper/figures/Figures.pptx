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5"/>
    <p:restoredTop sz="94589"/>
  </p:normalViewPr>
  <p:slideViewPr>
    <p:cSldViewPr snapToGrid="0">
      <p:cViewPr varScale="1">
        <p:scale>
          <a:sx n="120" d="100"/>
          <a:sy n="120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D6095-6832-B971-F320-6D88D1F0D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930E0-0F5C-F7CF-9BE0-E74910FAA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56010-7C67-1632-DA5E-AD55E3A3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34A0-5F35-0444-AE22-8156DE434B6C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F83B2-8662-9990-9753-C3DBF7099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9631-559A-DB55-0161-9DE3F6E0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D8E0-C86F-F746-A0EE-87DA657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83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ACA9-986B-EDD4-364D-230D95B13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D25F-6699-66AA-7D67-A357BBC4B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55B21-34E6-F87E-94B1-FF182846A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34A0-5F35-0444-AE22-8156DE434B6C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FCAA-C3A5-899A-4E06-786DBE129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3F854-B5BB-CD99-C880-B72708BA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D8E0-C86F-F746-A0EE-87DA657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51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AAC03-4F97-2993-13A7-60221330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9108A-B03B-CF98-F53B-24FF566B0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FCBB3-25D9-9E56-538D-EB60E6BCD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34A0-5F35-0444-AE22-8156DE434B6C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5A750-2E99-5458-B5F3-7E120ADA1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11CBE-3383-2A7C-031C-E5E7DB3C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D8E0-C86F-F746-A0EE-87DA657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1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8392-B56E-1A9A-AED6-691FA9FA0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59EB2-5F1F-BA58-CD84-532E74028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F02A2-6114-D03D-8CA1-80F06E074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6B118-8EFE-8F56-70A7-3425AC25C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34A0-5F35-0444-AE22-8156DE434B6C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05C90-7464-10F2-DAB3-47A3B76C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3B9EA-4E0B-F639-76F0-0B2023983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D8E0-C86F-F746-A0EE-87DA657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9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6FD-7E5B-A732-8331-DF9EAB973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5C261-F770-E4C3-3410-730606D4D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96785-B1B1-071D-ACD7-BB7451647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1E23A8-C04D-AB59-84C3-876ECFFB7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BCD2ED-0D8A-B876-260D-BDDAFA0F2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7DADA-F3C0-FB84-F276-B8CBCF8D5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34A0-5F35-0444-AE22-8156DE434B6C}" type="datetimeFigureOut">
              <a:rPr lang="en-US" smtClean="0"/>
              <a:t>8/30/25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9F8D7D-7079-C0E2-1A21-5D7D1DBD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843B49-4142-C99D-9B27-788676DA0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D8E0-C86F-F746-A0EE-87DA657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25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C0F4D-A0DE-833D-2BED-8EF5272EB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3A3BCC-2394-3AC0-D2A6-3D2975DE0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34A0-5F35-0444-AE22-8156DE434B6C}" type="datetimeFigureOut">
              <a:rPr lang="en-US" smtClean="0"/>
              <a:t>8/30/25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C0611-7C8C-8FF3-98F9-789BBD6F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3B3AC-E9CB-05EF-6B1D-C06DA0C28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D8E0-C86F-F746-A0EE-87DA657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7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0E5F4-06B7-B685-DC4B-C46BDBB84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34A0-5F35-0444-AE22-8156DE434B6C}" type="datetimeFigureOut">
              <a:rPr lang="en-US" smtClean="0"/>
              <a:t>8/30/25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77ECE-9376-F3CC-A857-15B2D4A3C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27B0D-4AD1-495C-3A76-370BB43E2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D8E0-C86F-F746-A0EE-87DA657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2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836B0-5F25-D569-4BAC-41D00E48B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5FA25-F658-23A8-DF2B-D3F5259D5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EA9A3-F076-360C-6301-ED5DC5072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C2FB-06C0-81CB-7C4A-05D4981B8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34A0-5F35-0444-AE22-8156DE434B6C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A6F0B-D7F5-A08C-8F5D-F5186E1F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EBF45-3618-8424-6F5B-282C25148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D8E0-C86F-F746-A0EE-87DA657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958DD-EB77-E089-E472-1303B37FA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6FA663-8292-27F3-0454-C528BAAD7C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61BA6-7183-CAEE-422F-76F0BBA4A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31037-7A92-BC5E-CEA4-7E07ED22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34A0-5F35-0444-AE22-8156DE434B6C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CA7D0-84C5-4323-34F0-974492A6A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11129-1059-71F9-029A-064369C40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D8E0-C86F-F746-A0EE-87DA657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94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3CCA-1716-461D-0EF6-CBCDC1354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E3591-526F-06B5-98A5-9D26269FD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5CDC5-FB96-83B1-3B9F-7BAB9CFB5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34A0-5F35-0444-AE22-8156DE434B6C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A2234-6F08-661B-6BB1-6C3E85A06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069F0-83EB-04D4-3F67-4A1F9862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D8E0-C86F-F746-A0EE-87DA657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1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EB8735-1566-D55A-DB71-A110512A31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52CE6-A01B-5262-280F-4D207793E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C0E66-12FB-7F52-0E20-C10DA5FF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34A0-5F35-0444-AE22-8156DE434B6C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752F7-0D96-FF6C-B567-B676A159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3BAF8-3723-7978-FA8E-8AC2FD8D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2D8E0-C86F-F746-A0EE-87DA657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8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232F1-2E6F-5B8E-A5CA-DAA8B32A5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8A8A6-BA2F-0D2E-B624-3D1255795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99EEB-2805-F746-A23B-DEDA2A710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434A0-5F35-0444-AE22-8156DE434B6C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9E5D7-C611-07FF-BEA3-8AED1BE53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4B5B3-3483-C47C-AE4B-205B91CE7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2D8E0-C86F-F746-A0EE-87DA657B1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1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C37B96C-468B-CEB4-FF9B-E483AC905508}"/>
              </a:ext>
            </a:extLst>
          </p:cNvPr>
          <p:cNvSpPr/>
          <p:nvPr/>
        </p:nvSpPr>
        <p:spPr>
          <a:xfrm>
            <a:off x="1052455" y="3484552"/>
            <a:ext cx="1277087" cy="10221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655762-403C-6F02-BAD2-7E06B164EF91}"/>
              </a:ext>
            </a:extLst>
          </p:cNvPr>
          <p:cNvSpPr txBox="1"/>
          <p:nvPr/>
        </p:nvSpPr>
        <p:spPr>
          <a:xfrm>
            <a:off x="1052456" y="3563793"/>
            <a:ext cx="13750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BP: 84</a:t>
            </a:r>
          </a:p>
          <a:p>
            <a:r>
              <a:rPr lang="en-US" sz="1600" dirty="0"/>
              <a:t>Glucose: 125</a:t>
            </a:r>
          </a:p>
          <a:p>
            <a:r>
              <a:rPr lang="en-US" sz="1600" dirty="0"/>
              <a:t>TLC: 1.63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F3D5D5-387D-F0F5-AE58-45944111F3A3}"/>
              </a:ext>
            </a:extLst>
          </p:cNvPr>
          <p:cNvSpPr/>
          <p:nvPr/>
        </p:nvSpPr>
        <p:spPr>
          <a:xfrm>
            <a:off x="3984342" y="766669"/>
            <a:ext cx="1277087" cy="10221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2A9E4-1CE1-2809-4FA9-FC7EFC70906A}"/>
              </a:ext>
            </a:extLst>
          </p:cNvPr>
          <p:cNvSpPr txBox="1"/>
          <p:nvPr/>
        </p:nvSpPr>
        <p:spPr>
          <a:xfrm>
            <a:off x="3962741" y="811417"/>
            <a:ext cx="13750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BP: 82</a:t>
            </a:r>
          </a:p>
          <a:p>
            <a:r>
              <a:rPr lang="en-US" sz="1600" dirty="0"/>
              <a:t>Glucose: 122</a:t>
            </a:r>
          </a:p>
          <a:p>
            <a:r>
              <a:rPr lang="en-US" sz="1600" dirty="0"/>
              <a:t>TLC: 1.30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F65A95-7AE1-746C-762B-449069440B84}"/>
              </a:ext>
            </a:extLst>
          </p:cNvPr>
          <p:cNvSpPr/>
          <p:nvPr/>
        </p:nvSpPr>
        <p:spPr>
          <a:xfrm>
            <a:off x="4293578" y="3450668"/>
            <a:ext cx="2581558" cy="10221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Class-wise</a:t>
            </a:r>
          </a:p>
          <a:p>
            <a:pPr algn="ctr"/>
            <a:r>
              <a:rPr lang="en-US" dirty="0"/>
              <a:t>K-Nearest  Neighbors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3E3E4BB-F033-7719-455A-5A99ECC9414B}"/>
              </a:ext>
            </a:extLst>
          </p:cNvPr>
          <p:cNvSpPr/>
          <p:nvPr/>
        </p:nvSpPr>
        <p:spPr>
          <a:xfrm>
            <a:off x="3984171" y="1925362"/>
            <a:ext cx="1277087" cy="10221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5DFD64-3066-AFA9-424D-0516C50D71E8}"/>
              </a:ext>
            </a:extLst>
          </p:cNvPr>
          <p:cNvSpPr txBox="1"/>
          <p:nvPr/>
        </p:nvSpPr>
        <p:spPr>
          <a:xfrm>
            <a:off x="3975270" y="1970110"/>
            <a:ext cx="13750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BP: 83</a:t>
            </a:r>
          </a:p>
          <a:p>
            <a:r>
              <a:rPr lang="en-US" sz="1600" dirty="0"/>
              <a:t>Glucose: 120</a:t>
            </a:r>
          </a:p>
          <a:p>
            <a:r>
              <a:rPr lang="en-US" sz="1600" dirty="0"/>
              <a:t>TLC: 1.60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42703A2-336B-1243-166F-1EC297FCCDE3}"/>
              </a:ext>
            </a:extLst>
          </p:cNvPr>
          <p:cNvSpPr/>
          <p:nvPr/>
        </p:nvSpPr>
        <p:spPr>
          <a:xfrm>
            <a:off x="5889342" y="766669"/>
            <a:ext cx="1277087" cy="102213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1591D-709F-E2C6-78A1-29500395B307}"/>
              </a:ext>
            </a:extLst>
          </p:cNvPr>
          <p:cNvSpPr txBox="1"/>
          <p:nvPr/>
        </p:nvSpPr>
        <p:spPr>
          <a:xfrm>
            <a:off x="5867741" y="811417"/>
            <a:ext cx="13750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BP: 83</a:t>
            </a:r>
          </a:p>
          <a:p>
            <a:r>
              <a:rPr lang="en-US" sz="1600" dirty="0"/>
              <a:t>Glucose: 125</a:t>
            </a:r>
          </a:p>
          <a:p>
            <a:r>
              <a:rPr lang="en-US" sz="1600" dirty="0"/>
              <a:t>TLC: 1.28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5874589-06EF-244A-3AB8-5A793AFE3520}"/>
              </a:ext>
            </a:extLst>
          </p:cNvPr>
          <p:cNvSpPr/>
          <p:nvPr/>
        </p:nvSpPr>
        <p:spPr>
          <a:xfrm>
            <a:off x="5889171" y="1925362"/>
            <a:ext cx="1277087" cy="102213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661333-2835-22E2-2DBA-672EB3FA350C}"/>
              </a:ext>
            </a:extLst>
          </p:cNvPr>
          <p:cNvSpPr txBox="1"/>
          <p:nvPr/>
        </p:nvSpPr>
        <p:spPr>
          <a:xfrm>
            <a:off x="5880270" y="1970110"/>
            <a:ext cx="13750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BP: 84</a:t>
            </a:r>
          </a:p>
          <a:p>
            <a:r>
              <a:rPr lang="en-US" sz="1600" dirty="0"/>
              <a:t>Glucose: 130</a:t>
            </a:r>
          </a:p>
          <a:p>
            <a:r>
              <a:rPr lang="en-US" sz="1600" dirty="0"/>
              <a:t>TLC: 1.46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3002F797-1452-3AB2-D14F-F22FBE7BF65F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rot="16200000" flipV="1">
            <a:off x="4851952" y="2718263"/>
            <a:ext cx="503168" cy="96164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FEB36DE7-05D8-5707-31DF-FCE922F28188}"/>
              </a:ext>
            </a:extLst>
          </p:cNvPr>
          <p:cNvCxnSpPr>
            <a:cxnSpLocks/>
            <a:stCxn id="7" idx="0"/>
            <a:endCxn id="12" idx="2"/>
          </p:cNvCxnSpPr>
          <p:nvPr/>
        </p:nvCxnSpPr>
        <p:spPr>
          <a:xfrm rot="5400000" flipH="1" flipV="1">
            <a:off x="5804452" y="2727405"/>
            <a:ext cx="503168" cy="9433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832D4F8-DEE6-7A85-6090-F568360EA154}"/>
              </a:ext>
            </a:extLst>
          </p:cNvPr>
          <p:cNvSpPr/>
          <p:nvPr/>
        </p:nvSpPr>
        <p:spPr>
          <a:xfrm>
            <a:off x="8318328" y="3521424"/>
            <a:ext cx="1464130" cy="917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52D004AA-2273-3A98-F1C3-BAB50AFC9CD6}"/>
              </a:ext>
            </a:extLst>
          </p:cNvPr>
          <p:cNvSpPr/>
          <p:nvPr/>
        </p:nvSpPr>
        <p:spPr>
          <a:xfrm>
            <a:off x="7518400" y="811416"/>
            <a:ext cx="635000" cy="213608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7E4A2AD2-1E03-0C53-7BBF-22956A60C207}"/>
              </a:ext>
            </a:extLst>
          </p:cNvPr>
          <p:cNvCxnSpPr>
            <a:cxnSpLocks/>
            <a:endCxn id="24" idx="0"/>
          </p:cNvCxnSpPr>
          <p:nvPr/>
        </p:nvCxnSpPr>
        <p:spPr>
          <a:xfrm rot="16200000" flipH="1">
            <a:off x="7803865" y="2274896"/>
            <a:ext cx="1596062" cy="896993"/>
          </a:xfrm>
          <a:prstGeom prst="bentConnector3">
            <a:avLst>
              <a:gd name="adj1" fmla="val -251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11388AD9-7C86-CCED-22E0-2C871BAB545D}"/>
              </a:ext>
            </a:extLst>
          </p:cNvPr>
          <p:cNvCxnSpPr>
            <a:cxnSpLocks/>
            <a:stCxn id="2" idx="2"/>
            <a:endCxn id="24" idx="2"/>
          </p:cNvCxnSpPr>
          <p:nvPr/>
        </p:nvCxnSpPr>
        <p:spPr>
          <a:xfrm rot="5400000" flipH="1" flipV="1">
            <a:off x="5336811" y="793109"/>
            <a:ext cx="67769" cy="7359394"/>
          </a:xfrm>
          <a:prstGeom prst="bentConnector3">
            <a:avLst>
              <a:gd name="adj1" fmla="val -13492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6B9C54D-8DCB-9EC2-91E2-2E3AD4CECD5F}"/>
              </a:ext>
            </a:extLst>
          </p:cNvPr>
          <p:cNvCxnSpPr>
            <a:stCxn id="24" idx="3"/>
          </p:cNvCxnSpPr>
          <p:nvPr/>
        </p:nvCxnSpPr>
        <p:spPr>
          <a:xfrm flipV="1">
            <a:off x="9782458" y="3979292"/>
            <a:ext cx="974442" cy="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0" descr="A red circle with a white x in it&#10;&#10;AI-generated content may be incorrect.">
            <a:extLst>
              <a:ext uri="{FF2B5EF4-FFF2-40B4-BE49-F238E27FC236}">
                <a16:creationId xmlns:a16="http://schemas.microsoft.com/office/drawing/2014/main" id="{475AAFD0-E7F9-80CA-C4F7-9FB5A702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030" y="2660250"/>
            <a:ext cx="256497" cy="242895"/>
          </a:xfrm>
          <a:prstGeom prst="rect">
            <a:avLst/>
          </a:prstGeom>
        </p:spPr>
      </p:pic>
      <p:pic>
        <p:nvPicPr>
          <p:cNvPr id="42" name="Picture 41" descr="A red circle with a white x in it&#10;&#10;AI-generated content may be incorrect.">
            <a:extLst>
              <a:ext uri="{FF2B5EF4-FFF2-40B4-BE49-F238E27FC236}">
                <a16:creationId xmlns:a16="http://schemas.microsoft.com/office/drawing/2014/main" id="{A40120BA-DAF0-E0A6-A56D-B0CA59B8C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675" y="1504692"/>
            <a:ext cx="256497" cy="242895"/>
          </a:xfrm>
          <a:prstGeom prst="rect">
            <a:avLst/>
          </a:prstGeom>
        </p:spPr>
      </p:pic>
      <p:pic>
        <p:nvPicPr>
          <p:cNvPr id="44" name="Picture 43" descr="A green circle with a white check mark&#10;&#10;AI-generated content may be incorrect.">
            <a:extLst>
              <a:ext uri="{FF2B5EF4-FFF2-40B4-BE49-F238E27FC236}">
                <a16:creationId xmlns:a16="http://schemas.microsoft.com/office/drawing/2014/main" id="{8CE0E772-202E-CE9E-8DE7-89F959AA9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978" y="2650607"/>
            <a:ext cx="234069" cy="231997"/>
          </a:xfrm>
          <a:prstGeom prst="rect">
            <a:avLst/>
          </a:prstGeom>
        </p:spPr>
      </p:pic>
      <p:pic>
        <p:nvPicPr>
          <p:cNvPr id="45" name="Picture 44" descr="A green circle with a white check mark&#10;&#10;AI-generated content may be incorrect.">
            <a:extLst>
              <a:ext uri="{FF2B5EF4-FFF2-40B4-BE49-F238E27FC236}">
                <a16:creationId xmlns:a16="http://schemas.microsoft.com/office/drawing/2014/main" id="{4EC7F5ED-35B0-31FA-F2E6-9E998B205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136" y="1495359"/>
            <a:ext cx="234069" cy="231997"/>
          </a:xfrm>
          <a:prstGeom prst="rect">
            <a:avLst/>
          </a:prstGeom>
        </p:spPr>
      </p:pic>
      <p:pic>
        <p:nvPicPr>
          <p:cNvPr id="46" name="Picture 45" descr="A green circle with a white check mark&#10;&#10;AI-generated content may be incorrect.">
            <a:extLst>
              <a:ext uri="{FF2B5EF4-FFF2-40B4-BE49-F238E27FC236}">
                <a16:creationId xmlns:a16="http://schemas.microsoft.com/office/drawing/2014/main" id="{64B1C30E-1E93-5DC9-9004-BC35509D5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471" y="3652183"/>
            <a:ext cx="614234" cy="608797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B2AE596-DF2D-C625-AC02-0EACE47778AF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2427515" y="3961737"/>
            <a:ext cx="1866063" cy="17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636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212D2D-2A34-BD66-FB52-1065E1AEBD41}"/>
              </a:ext>
            </a:extLst>
          </p:cNvPr>
          <p:cNvGrpSpPr/>
          <p:nvPr/>
        </p:nvGrpSpPr>
        <p:grpSpPr>
          <a:xfrm>
            <a:off x="1786270" y="855623"/>
            <a:ext cx="4419602" cy="4644291"/>
            <a:chOff x="1786270" y="855623"/>
            <a:chExt cx="4419602" cy="46442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AB743F3-EF52-F592-9FC5-0D6B922CED4E}"/>
                </a:ext>
              </a:extLst>
            </p:cNvPr>
            <p:cNvSpPr/>
            <p:nvPr/>
          </p:nvSpPr>
          <p:spPr>
            <a:xfrm>
              <a:off x="1786270" y="883266"/>
              <a:ext cx="4309730" cy="461664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017F123-A76A-AA90-76F9-CD0BFA9CF4C3}"/>
                </a:ext>
              </a:extLst>
            </p:cNvPr>
            <p:cNvSpPr txBox="1"/>
            <p:nvPr/>
          </p:nvSpPr>
          <p:spPr>
            <a:xfrm>
              <a:off x="1786270" y="855623"/>
              <a:ext cx="4419602" cy="4616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You are a careful clinical classifier. Given a single patient's anonymized features, predict whether the patient has diabetes or not. Only use the provided features—do not invent data.</a:t>
              </a:r>
            </a:p>
            <a:p>
              <a:endParaRPr lang="en-IN" sz="1400" dirty="0"/>
            </a:p>
            <a:p>
              <a:r>
                <a:rPr lang="en-IN" sz="1400" dirty="0"/>
                <a:t>Example 1. </a:t>
              </a:r>
            </a:p>
            <a:p>
              <a:r>
                <a:rPr lang="en-IN" sz="1400" dirty="0"/>
                <a:t>Pregnancies: 1, Glucose: 148, </a:t>
              </a:r>
              <a:r>
                <a:rPr lang="en-IN" sz="1400" dirty="0" err="1"/>
                <a:t>BloodPressure</a:t>
              </a:r>
              <a:r>
                <a:rPr lang="en-IN" sz="1400" dirty="0"/>
                <a:t>: 74, </a:t>
              </a:r>
              <a:r>
                <a:rPr lang="en-IN" sz="1400" dirty="0" err="1"/>
                <a:t>SkinThickness</a:t>
              </a:r>
              <a:r>
                <a:rPr lang="en-IN" sz="1400" dirty="0"/>
                <a:t>: 31, Insulin: 168, BMI: 33.6, DPF: 2.228, Age: 50</a:t>
              </a:r>
            </a:p>
            <a:p>
              <a:r>
                <a:rPr lang="en-IN" sz="1400" dirty="0"/>
                <a:t>Answer: 1</a:t>
              </a:r>
            </a:p>
            <a:p>
              <a:endParaRPr lang="en-IN" sz="1400" dirty="0"/>
            </a:p>
            <a:p>
              <a:r>
                <a:rPr lang="en-IN" sz="1400" dirty="0"/>
                <a:t>Example 2. </a:t>
              </a:r>
            </a:p>
            <a:p>
              <a:r>
                <a:rPr lang="en-IN" sz="1400" dirty="0"/>
                <a:t>Pregnancies: 0,  Glucose: 137, </a:t>
              </a:r>
              <a:r>
                <a:rPr lang="en-IN" sz="1400" dirty="0" err="1"/>
                <a:t>BloodPressure</a:t>
              </a:r>
              <a:r>
                <a:rPr lang="en-IN" sz="1400" dirty="0"/>
                <a:t>: 78, </a:t>
              </a:r>
              <a:r>
                <a:rPr lang="en-IN" sz="1400" dirty="0" err="1"/>
                <a:t>SkinThickness</a:t>
              </a:r>
              <a:r>
                <a:rPr lang="en-IN" sz="1400" dirty="0"/>
                <a:t>: 32, Insulin: 94, BMI: 28.1, DPF: 0.167, Age: 28</a:t>
              </a:r>
            </a:p>
            <a:p>
              <a:r>
                <a:rPr lang="en-IN" sz="1400" dirty="0"/>
                <a:t>Answer: 0</a:t>
              </a:r>
            </a:p>
            <a:p>
              <a:endParaRPr lang="en-IN" sz="1400" dirty="0"/>
            </a:p>
            <a:p>
              <a:r>
                <a:rPr lang="en-IN" sz="1400" dirty="0"/>
                <a:t>Now evaluate this patient</a:t>
              </a:r>
            </a:p>
            <a:p>
              <a:r>
                <a:rPr lang="en-IN" sz="1400" dirty="0"/>
                <a:t>Pregnancies: 2,  Glucose: 159, </a:t>
              </a:r>
              <a:r>
                <a:rPr lang="en-IN" sz="1400" dirty="0" err="1"/>
                <a:t>BloodPressure</a:t>
              </a:r>
              <a:r>
                <a:rPr lang="en-IN" sz="1400" dirty="0"/>
                <a:t>: 72, </a:t>
              </a:r>
              <a:r>
                <a:rPr lang="en-IN" sz="1400" dirty="0" err="1"/>
                <a:t>SkinThickness</a:t>
              </a:r>
              <a:r>
                <a:rPr lang="en-IN" sz="1400" dirty="0"/>
                <a:t>: 29, Insulin: 88, BMI: 27.4, DPF: 0.294, Age: 40</a:t>
              </a: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33971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8364</TotalTime>
  <Words>192</Words>
  <Application>Microsoft Macintosh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2025-08-27T13:57:47Z</dcterms:created>
  <dcterms:modified xsi:type="dcterms:W3CDTF">2025-09-03T16:15:30Z</dcterms:modified>
</cp:coreProperties>
</file>