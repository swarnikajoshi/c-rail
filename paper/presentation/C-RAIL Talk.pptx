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147482604" r:id="rId5"/>
    <p:sldId id="2147482621" r:id="rId6"/>
    <p:sldId id="2147482622" r:id="rId7"/>
    <p:sldId id="2147482623" r:id="rId8"/>
    <p:sldId id="2147482624" r:id="rId9"/>
    <p:sldId id="2147482625" r:id="rId10"/>
    <p:sldId id="2147482626" r:id="rId11"/>
    <p:sldId id="257" r:id="rId12"/>
    <p:sldId id="2147482631" r:id="rId13"/>
    <p:sldId id="2147482627" r:id="rId14"/>
    <p:sldId id="2147482628" r:id="rId15"/>
    <p:sldId id="2147482629" r:id="rId16"/>
    <p:sldId id="2147482630" r:id="rId1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42"/>
    <p:restoredTop sz="94137"/>
  </p:normalViewPr>
  <p:slideViewPr>
    <p:cSldViewPr snapToGrid="0">
      <p:cViewPr varScale="1">
        <p:scale>
          <a:sx n="150" d="100"/>
          <a:sy n="150" d="100"/>
        </p:scale>
        <p:origin x="6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68B95-C035-314F-8447-670206331BDE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8DC91-9596-1846-8502-2D6C2CE7A7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983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52DE-DD65-E3A1-EE44-1EC0A9CA1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33172-7172-872D-A8AA-93E9B664D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89B75-CF7C-CB4A-E020-2A58C1C5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D3192-F0EA-65D5-BF48-7784C7F0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9A8AD-9CC2-4CE9-E9EC-3E55DA03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800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E28F-CD37-E1E3-9AF4-111B95A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16C6F-45C7-43AA-9CB7-0B347366B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3319-2E57-848B-9849-64A87E92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78534-6235-EEB9-32AE-33652B61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95466-DEA9-71D6-79C3-F73C9E2B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7582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52EB-6E2E-FFC3-FE5E-678E9309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74800-F6A3-D8ED-0430-B6EF1ED13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E9AE0-B390-DE4E-AD80-E308D727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6E24-C361-DD0D-2413-421104D7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E8499-6051-71AC-C224-63837375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41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8429-5838-9871-4830-48C23598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57B00-62A4-2FB3-73D8-0B1C56641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6FE72-00D4-CC1D-E4B5-2216D3284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895A4-62C9-2C15-A58F-CA435BE7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49876-14C0-D26F-8BF4-8FEC0AE9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A4929-5C09-BD78-5E83-3DC5D199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431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5906-25E9-D1BA-7C2E-6963ABEE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3CF44-A528-5EF9-DA84-0A496894A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8E795-A4A5-FBF8-6017-396F9AE2C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2055B-2F3F-CC5A-A3CE-599BE34731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01743-5EDB-F66A-9720-9C3D9D938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A02A9C-F4E3-6FCB-F37B-E43BC43B4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09E04-F492-0DA9-9B4C-7BC34BEB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BF572-FF8F-F605-5193-88230C06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606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33A4-4FD9-9328-20E2-7B297DC4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91AD11-4A7E-78FE-C9AF-47C1443C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F0050-BB03-FE0A-40C3-F338C067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26B96-1A21-E787-4542-FAF719E4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541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D9984-9669-9272-BA42-75801C22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C0B5E-C4C8-F00A-844F-0C09E30F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1DEF6-C746-8C4D-F164-15080B86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5791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E290-BA19-67D6-1264-9CCDCA62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88C7-8684-1C32-EB8F-5BD7B471C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B73BC-D3C4-B19F-100D-8F882447F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6666F-207B-D243-B6BB-D0087349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3F66C-537B-AE00-4159-9B5B7F54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E6951-5739-050D-3C55-44B1C96A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6206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CABD-B46F-17E6-8169-B7B4C66D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7E211-DD85-737C-0C30-3DF0A61DB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63DD4-6FAA-564B-7561-E8D8E4C57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A213C-E153-2C6C-A1E6-0E108671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F9F66-9282-3207-F5F5-382BC319C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FEBA1-81B0-F5EE-115D-04EA5CEA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608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54BC-D298-52FA-FF40-B2B5328C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B2247-D908-A40F-DFE2-59193BF22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F17AA-4A0D-B615-0270-EEC3513A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DDAF3-3CC0-CA0B-4C68-3A64E94CC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A8321-FB08-929A-FBCB-B9DD35E7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006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1BC29-2B4B-C0EE-52EC-2C5602601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DBC2C-1A2B-EC45-D6B1-F00743871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2311C-B675-C0D9-1951-3D0FCB533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DC05B-9DB6-C7DF-8762-5914F511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5D008-05E2-8B2F-D030-54AC5AF7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613705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1B9E2-CC45-A536-6198-015D274C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15BEA-B0A3-BD9B-0E2C-9804A441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4317A-A2D1-EEFA-BA83-A333955A0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A45A8-018F-A547-A748-78FAE4C5D474}" type="datetimeFigureOut">
              <a:rPr lang="en-IL" smtClean="0"/>
              <a:t>11/15/25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37109-1F25-3A95-F2DE-E4907530E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DEA67-8541-9524-EAE0-22D9C07E6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7327B-434D-EC4D-942A-3A76ADB61A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027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eg"/><Relationship Id="rId4" Type="http://schemas.openxmlformats.org/officeDocument/2006/relationships/image" Target="../media/image25.jpeg"/><Relationship Id="rId5" Type="http://schemas.openxmlformats.org/officeDocument/2006/relationships/image" Target="../media/image26.jpeg"/><Relationship Id="rId6" Type="http://schemas.openxmlformats.org/officeDocument/2006/relationships/image" Target="../media/image2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31.jpeg"/><Relationship Id="rId6" Type="http://schemas.openxmlformats.org/officeDocument/2006/relationships/image" Target="../media/image3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31.jpeg"/><Relationship Id="rId6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97FE72-D3F2-5CAB-A416-4A6A6361C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064" y="1516827"/>
            <a:ext cx="11155680" cy="176425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Contrastive Retrieval Augmented In-Context Learning </a:t>
            </a:r>
            <a:r>
              <a:rPr lang="en-US" sz="4000" dirty="0"/>
              <a:t>for </a:t>
            </a:r>
            <a:r>
              <a:rPr lang="en-US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Medical Classification Tasks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with Imbalanced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8E4D68-E9BE-E0E1-52EC-D713B3720C11}"/>
              </a:ext>
            </a:extLst>
          </p:cNvPr>
          <p:cNvSpPr txBox="1"/>
          <p:nvPr/>
        </p:nvSpPr>
        <p:spPr>
          <a:xfrm>
            <a:off x="1538343" y="4442908"/>
            <a:ext cx="2932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Swarnika Joshi</a:t>
            </a:r>
          </a:p>
        </p:txBody>
      </p:sp>
      <p:pic>
        <p:nvPicPr>
          <p:cNvPr id="1026" name="Picture 2" descr="Scottish High International School | Gurugram">
            <a:extLst>
              <a:ext uri="{FF2B5EF4-FFF2-40B4-BE49-F238E27FC236}">
                <a16:creationId xmlns:a16="http://schemas.microsoft.com/office/drawing/2014/main" id="{779EE326-C770-4EF9-5DCE-F3E597046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1909"/>
            <a:ext cx="1031386" cy="103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762579-2F5B-E6C3-D93A-B471B140296E}"/>
              </a:ext>
            </a:extLst>
          </p:cNvPr>
          <p:cNvSpPr txBox="1"/>
          <p:nvPr/>
        </p:nvSpPr>
        <p:spPr>
          <a:xfrm>
            <a:off x="815514" y="5119589"/>
            <a:ext cx="4707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Scottish High International School</a:t>
            </a:r>
          </a:p>
          <a:p>
            <a:pPr algn="ctr"/>
            <a:r>
              <a:rPr lang="en-US" sz="2400" dirty="0"/>
              <a:t>Gurgaon, India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FD3D9-83D5-DF8C-3AEC-9F2E674A0D4F}"/>
              </a:ext>
            </a:extLst>
          </p:cNvPr>
          <p:cNvSpPr txBox="1"/>
          <p:nvPr/>
        </p:nvSpPr>
        <p:spPr>
          <a:xfrm>
            <a:off x="7650479" y="4442908"/>
            <a:ext cx="287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Kshitij S Jadhav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310EE-DDB8-EFD5-35EA-5DAB25E8F375}"/>
              </a:ext>
            </a:extLst>
          </p:cNvPr>
          <p:cNvSpPr txBox="1"/>
          <p:nvPr/>
        </p:nvSpPr>
        <p:spPr>
          <a:xfrm>
            <a:off x="7270214" y="5119589"/>
            <a:ext cx="4022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Koita Center of Digital Health</a:t>
            </a:r>
          </a:p>
          <a:p>
            <a:pPr algn="ctr"/>
            <a:r>
              <a:rPr lang="en-US" sz="2400" dirty="0"/>
              <a:t>IIT Bombay, India</a:t>
            </a:r>
            <a:endParaRPr lang="en-US" sz="2000" dirty="0"/>
          </a:p>
        </p:txBody>
      </p:sp>
      <p:pic>
        <p:nvPicPr>
          <p:cNvPr id="1032" name="Picture 8" descr="Personal Website">
            <a:extLst>
              <a:ext uri="{FF2B5EF4-FFF2-40B4-BE49-F238E27FC236}">
                <a16:creationId xmlns:a16="http://schemas.microsoft.com/office/drawing/2014/main" id="{2461465B-599A-F7A7-D465-C6C8B9EE2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3445" y="5821909"/>
            <a:ext cx="1031386" cy="987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633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05B5-DD02-903A-4D13-D8DB79997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302"/>
            <a:ext cx="10515600" cy="541336"/>
          </a:xfrm>
        </p:spPr>
        <p:txBody>
          <a:bodyPr>
            <a:noAutofit/>
          </a:bodyPr>
          <a:lstStyle/>
          <a:p>
            <a:r>
              <a:rPr lang="en-US" sz="3600" dirty="0"/>
              <a:t>Classification Tasks in Medical Domain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385AA3-1509-79AC-5655-23F1A4CF6FDE}"/>
              </a:ext>
            </a:extLst>
          </p:cNvPr>
          <p:cNvGrpSpPr/>
          <p:nvPr/>
        </p:nvGrpSpPr>
        <p:grpSpPr>
          <a:xfrm>
            <a:off x="8987900" y="1202469"/>
            <a:ext cx="2733217" cy="1872359"/>
            <a:chOff x="8987900" y="1202469"/>
            <a:chExt cx="2733217" cy="1872359"/>
          </a:xfrm>
        </p:grpSpPr>
        <p:pic>
          <p:nvPicPr>
            <p:cNvPr id="2050" name="Picture 2" descr="Disease Detection - Cardisio GmbH">
              <a:extLst>
                <a:ext uri="{FF2B5EF4-FFF2-40B4-BE49-F238E27FC236}">
                  <a16:creationId xmlns:a16="http://schemas.microsoft.com/office/drawing/2014/main" id="{DF118975-5738-FBD5-8481-E6732CD95E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87900" y="1217968"/>
              <a:ext cx="1175989" cy="1175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7384DB-5394-376E-0ACF-1FC127AB2FB4}"/>
                </a:ext>
              </a:extLst>
            </p:cNvPr>
            <p:cNvSpPr txBox="1"/>
            <p:nvPr/>
          </p:nvSpPr>
          <p:spPr>
            <a:xfrm>
              <a:off x="8987900" y="2428497"/>
              <a:ext cx="11661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Disease </a:t>
              </a:r>
            </a:p>
            <a:p>
              <a:pPr algn="ctr"/>
              <a:r>
                <a:rPr lang="en-US" dirty="0"/>
                <a:t>Detection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34F217-39C3-9F07-A571-DF099ACA5C21}"/>
                </a:ext>
              </a:extLst>
            </p:cNvPr>
            <p:cNvSpPr txBox="1"/>
            <p:nvPr/>
          </p:nvSpPr>
          <p:spPr>
            <a:xfrm>
              <a:off x="10490684" y="1963245"/>
              <a:ext cx="11276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Diabetes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2FA5433-DE97-2CDD-2FA7-B779081B4642}"/>
                </a:ext>
              </a:extLst>
            </p:cNvPr>
            <p:cNvSpPr txBox="1"/>
            <p:nvPr/>
          </p:nvSpPr>
          <p:spPr>
            <a:xfrm>
              <a:off x="10247187" y="1202469"/>
              <a:ext cx="1473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No Diabetes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52C348-9A8C-43FF-6CD9-9F6688836054}"/>
              </a:ext>
            </a:extLst>
          </p:cNvPr>
          <p:cNvSpPr txBox="1"/>
          <p:nvPr/>
        </p:nvSpPr>
        <p:spPr>
          <a:xfrm>
            <a:off x="8375297" y="3453005"/>
            <a:ext cx="355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Roughly 18% of adult population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07BD67-1603-9B97-9B98-A2113EBA9952}"/>
              </a:ext>
            </a:extLst>
          </p:cNvPr>
          <p:cNvGrpSpPr/>
          <p:nvPr/>
        </p:nvGrpSpPr>
        <p:grpSpPr>
          <a:xfrm>
            <a:off x="210609" y="1441895"/>
            <a:ext cx="1662443" cy="1869229"/>
            <a:chOff x="253362" y="2180300"/>
            <a:chExt cx="1662443" cy="1869229"/>
          </a:xfrm>
        </p:grpSpPr>
        <p:pic>
          <p:nvPicPr>
            <p:cNvPr id="2054" name="Picture 6" descr="patient1 - Flaticon.com-People-C1">
              <a:extLst>
                <a:ext uri="{FF2B5EF4-FFF2-40B4-BE49-F238E27FC236}">
                  <a16:creationId xmlns:a16="http://schemas.microsoft.com/office/drawing/2014/main" id="{2FF49F92-734B-F3C6-29A9-DCDE8BCFC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61" y="2180300"/>
              <a:ext cx="1412032" cy="1412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ADE02D-36AC-A7D3-F248-346421B4F407}"/>
                </a:ext>
              </a:extLst>
            </p:cNvPr>
            <p:cNvSpPr txBox="1"/>
            <p:nvPr/>
          </p:nvSpPr>
          <p:spPr>
            <a:xfrm>
              <a:off x="253362" y="3680197"/>
              <a:ext cx="166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Cancer Patient</a:t>
              </a:r>
            </a:p>
          </p:txBody>
        </p:sp>
      </p:grpSp>
      <p:pic>
        <p:nvPicPr>
          <p:cNvPr id="2056" name="Picture 8" descr="Side Effects Rubber Stamp Seal Vector 23393710 Vector Art at Vecteezy">
            <a:extLst>
              <a:ext uri="{FF2B5EF4-FFF2-40B4-BE49-F238E27FC236}">
                <a16:creationId xmlns:a16="http://schemas.microsoft.com/office/drawing/2014/main" id="{64824BC9-B6E8-C63B-C34D-39E0A9791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846" y="2683882"/>
            <a:ext cx="1213387" cy="7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흰색 배경에 부작용 그런 지 도장 없음, 벡터 일러스트 레이 션 로열티 무료 사진, 그림, 이미지 그리고 스톡포토그래피. Image  96992625">
            <a:extLst>
              <a:ext uri="{FF2B5EF4-FFF2-40B4-BE49-F238E27FC236}">
                <a16:creationId xmlns:a16="http://schemas.microsoft.com/office/drawing/2014/main" id="{4107F989-9247-1F05-8B24-BA4354C3A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82" y="1105677"/>
            <a:ext cx="703437" cy="70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DF07BD1-B278-3B3E-B923-0B2B1DA4CEB2}"/>
              </a:ext>
            </a:extLst>
          </p:cNvPr>
          <p:cNvGrpSpPr/>
          <p:nvPr/>
        </p:nvGrpSpPr>
        <p:grpSpPr>
          <a:xfrm>
            <a:off x="1884151" y="1661939"/>
            <a:ext cx="2956261" cy="1412032"/>
            <a:chOff x="1884151" y="2339276"/>
            <a:chExt cx="2956261" cy="1412032"/>
          </a:xfrm>
        </p:grpSpPr>
        <p:pic>
          <p:nvPicPr>
            <p:cNvPr id="2052" name="Picture 4" descr="The CAR T-Cell Therapy Clinical Journey Guide • ATTC Network - Advanced  Therapy Treatment Centre">
              <a:extLst>
                <a:ext uri="{FF2B5EF4-FFF2-40B4-BE49-F238E27FC236}">
                  <a16:creationId xmlns:a16="http://schemas.microsoft.com/office/drawing/2014/main" id="{AFBA8BF3-C095-15B0-38D7-2563AE7D0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0131" y="2339276"/>
              <a:ext cx="2510281" cy="1412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5B2721F1-97AA-A76D-4C36-7B0E69754643}"/>
                </a:ext>
              </a:extLst>
            </p:cNvPr>
            <p:cNvSpPr/>
            <p:nvPr/>
          </p:nvSpPr>
          <p:spPr>
            <a:xfrm flipV="1">
              <a:off x="1884151" y="2784559"/>
              <a:ext cx="389467" cy="36150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ight Arrow 12">
            <a:extLst>
              <a:ext uri="{FF2B5EF4-FFF2-40B4-BE49-F238E27FC236}">
                <a16:creationId xmlns:a16="http://schemas.microsoft.com/office/drawing/2014/main" id="{783A5FA0-D047-B343-5D66-471C09C9C42D}"/>
              </a:ext>
            </a:extLst>
          </p:cNvPr>
          <p:cNvSpPr/>
          <p:nvPr/>
        </p:nvSpPr>
        <p:spPr>
          <a:xfrm flipV="1">
            <a:off x="4507458" y="2066995"/>
            <a:ext cx="389467" cy="3615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2BCA844E-B55A-4052-C1E6-A33A164C6BA5}"/>
              </a:ext>
            </a:extLst>
          </p:cNvPr>
          <p:cNvSpPr/>
          <p:nvPr/>
        </p:nvSpPr>
        <p:spPr>
          <a:xfrm>
            <a:off x="4966026" y="1457396"/>
            <a:ext cx="677131" cy="159055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4354B4-06C9-5B99-9EA9-EF0F200E4880}"/>
              </a:ext>
            </a:extLst>
          </p:cNvPr>
          <p:cNvSpPr txBox="1"/>
          <p:nvPr/>
        </p:nvSpPr>
        <p:spPr>
          <a:xfrm>
            <a:off x="4702191" y="3453005"/>
            <a:ext cx="2567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Roughly 13% of Patient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72926E-3A6D-1F00-0B30-543CDDA26AF5}"/>
              </a:ext>
            </a:extLst>
          </p:cNvPr>
          <p:cNvSpPr txBox="1"/>
          <p:nvPr/>
        </p:nvSpPr>
        <p:spPr>
          <a:xfrm>
            <a:off x="2440403" y="5513470"/>
            <a:ext cx="77136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Several classification problems in medical </a:t>
            </a:r>
          </a:p>
          <a:p>
            <a:pPr algn="ctr"/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domain have imbalanced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7327CC-91BE-3707-1E27-3F2897212344}"/>
              </a:ext>
            </a:extLst>
          </p:cNvPr>
          <p:cNvSpPr txBox="1"/>
          <p:nvPr/>
        </p:nvSpPr>
        <p:spPr>
          <a:xfrm>
            <a:off x="2605108" y="4342776"/>
            <a:ext cx="69817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We usually have very small amount of </a:t>
            </a:r>
          </a:p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data in medical domain</a:t>
            </a:r>
          </a:p>
        </p:txBody>
      </p:sp>
    </p:spTree>
    <p:extLst>
      <p:ext uri="{BB962C8B-B14F-4D97-AF65-F5344CB8AC3E}">
        <p14:creationId xmlns:p14="http://schemas.microsoft.com/office/powerpoint/2010/main" val="165905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 animBg="1"/>
      <p:bldP spid="15" grpId="0"/>
      <p:bldP spid="16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5DFB-DE0D-99B5-7D12-7FAD5BED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5ACA-64B6-CCBC-5EF9-8B8E3A984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302"/>
            <a:ext cx="10515600" cy="541336"/>
          </a:xfrm>
        </p:spPr>
        <p:txBody>
          <a:bodyPr>
            <a:noAutofit/>
          </a:bodyPr>
          <a:lstStyle/>
          <a:p>
            <a:r>
              <a:rPr lang="en-US" sz="3600" dirty="0"/>
              <a:t>Large Language Models as Classifiers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89B9D2D-40F2-5E0B-43CC-1D3BA0BE75AB}"/>
              </a:ext>
            </a:extLst>
          </p:cNvPr>
          <p:cNvSpPr/>
          <p:nvPr/>
        </p:nvSpPr>
        <p:spPr>
          <a:xfrm>
            <a:off x="4667157" y="1337364"/>
            <a:ext cx="2628164" cy="154498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ChatGPT - Simple English Wikipedia, the free encyclopedia">
            <a:extLst>
              <a:ext uri="{FF2B5EF4-FFF2-40B4-BE49-F238E27FC236}">
                <a16:creationId xmlns:a16="http://schemas.microsoft.com/office/drawing/2014/main" id="{C921A932-0166-5D00-848A-997EA2F8C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589" y="1487223"/>
            <a:ext cx="583096" cy="58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oogle Gemini Logo PNG HD Download With Transparent Background | PNGHDPro">
            <a:extLst>
              <a:ext uri="{FF2B5EF4-FFF2-40B4-BE49-F238E27FC236}">
                <a16:creationId xmlns:a16="http://schemas.microsoft.com/office/drawing/2014/main" id="{D4F7C910-CB88-4A9E-4270-CB00002F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546" y="2059539"/>
            <a:ext cx="822808" cy="82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What is Llama 3? Docs, Demo and How to Deploy | Shakudo">
            <a:extLst>
              <a:ext uri="{FF2B5EF4-FFF2-40B4-BE49-F238E27FC236}">
                <a16:creationId xmlns:a16="http://schemas.microsoft.com/office/drawing/2014/main" id="{EDF3978A-A0E4-38D7-45D8-50143DCE6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558" y="1487223"/>
            <a:ext cx="706783" cy="70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D41183-1FA9-FE6D-83DD-6AF6D5766455}"/>
              </a:ext>
            </a:extLst>
          </p:cNvPr>
          <p:cNvSpPr txBox="1"/>
          <p:nvPr/>
        </p:nvSpPr>
        <p:spPr>
          <a:xfrm>
            <a:off x="2457758" y="1848245"/>
            <a:ext cx="1149161" cy="52322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Text 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40778-A073-5DD3-28E9-FAE297A37B6B}"/>
              </a:ext>
            </a:extLst>
          </p:cNvPr>
          <p:cNvSpPr txBox="1"/>
          <p:nvPr/>
        </p:nvSpPr>
        <p:spPr>
          <a:xfrm>
            <a:off x="8333214" y="1848245"/>
            <a:ext cx="1437701" cy="52322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Text Out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9DA20B-4128-712F-37C3-B31834B0901C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3606919" y="2109855"/>
            <a:ext cx="106023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6C6774-87B1-CD1B-62AA-5964BAA878B4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7295321" y="2109855"/>
            <a:ext cx="10378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F4E5786-2066-9045-644C-03F6D3B05764}"/>
              </a:ext>
            </a:extLst>
          </p:cNvPr>
          <p:cNvGrpSpPr/>
          <p:nvPr/>
        </p:nvGrpSpPr>
        <p:grpSpPr>
          <a:xfrm>
            <a:off x="115435" y="3854821"/>
            <a:ext cx="4221658" cy="2268520"/>
            <a:chOff x="115435" y="3854821"/>
            <a:chExt cx="4221658" cy="22685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9C7390-A21A-8AAB-E666-862AE6EE74CD}"/>
                </a:ext>
              </a:extLst>
            </p:cNvPr>
            <p:cNvSpPr txBox="1"/>
            <p:nvPr/>
          </p:nvSpPr>
          <p:spPr>
            <a:xfrm>
              <a:off x="115435" y="4296584"/>
              <a:ext cx="2788136" cy="1384995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You are given a set of clinical features…</a:t>
              </a:r>
            </a:p>
            <a:p>
              <a:r>
                <a:rPr lang="en-US" sz="1200" dirty="0"/>
                <a:t>Your task is to classify the patient…</a:t>
              </a:r>
            </a:p>
            <a:p>
              <a:r>
                <a:rPr lang="en-US" sz="1200" dirty="0"/>
                <a:t>Into one of the two classes….</a:t>
              </a:r>
            </a:p>
            <a:p>
              <a:r>
                <a:rPr lang="en-US" sz="1200" dirty="0"/>
                <a:t>(1) Side Effect (2) No Side Effect</a:t>
              </a:r>
            </a:p>
            <a:p>
              <a:r>
                <a:rPr lang="en-US" sz="1200" dirty="0"/>
                <a:t>Use the following template for output:</a:t>
              </a:r>
            </a:p>
            <a:p>
              <a:r>
                <a:rPr lang="en-US" sz="1200" dirty="0"/>
                <a:t>Class: Side effect</a:t>
              </a:r>
            </a:p>
            <a:p>
              <a:r>
                <a:rPr lang="en-US" sz="1200" dirty="0"/>
                <a:t>Confidence….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38E20A-3765-5CD3-8078-27D644CB4C7B}"/>
                </a:ext>
              </a:extLst>
            </p:cNvPr>
            <p:cNvSpPr txBox="1"/>
            <p:nvPr/>
          </p:nvSpPr>
          <p:spPr>
            <a:xfrm rot="16200000">
              <a:off x="3002778" y="4789026"/>
              <a:ext cx="2268520" cy="400110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Clinical Features</a:t>
              </a:r>
            </a:p>
          </p:txBody>
        </p:sp>
        <p:pic>
          <p:nvPicPr>
            <p:cNvPr id="27" name="Picture 26" descr="A red cross on a white background&#10;&#10;AI-generated content may be incorrect.">
              <a:extLst>
                <a:ext uri="{FF2B5EF4-FFF2-40B4-BE49-F238E27FC236}">
                  <a16:creationId xmlns:a16="http://schemas.microsoft.com/office/drawing/2014/main" id="{E99D7BC7-B4B9-9914-9E5F-65A8BFDF9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12460" y="4486536"/>
              <a:ext cx="844892" cy="91046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73DAD30-F10C-8125-1B6A-D87E0701C145}"/>
                </a:ext>
              </a:extLst>
            </p:cNvPr>
            <p:cNvSpPr txBox="1"/>
            <p:nvPr/>
          </p:nvSpPr>
          <p:spPr>
            <a:xfrm>
              <a:off x="536713" y="5754009"/>
              <a:ext cx="14587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Instructions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5F044-66BE-9FF6-0697-F734500232E5}"/>
              </a:ext>
            </a:extLst>
          </p:cNvPr>
          <p:cNvGrpSpPr/>
          <p:nvPr/>
        </p:nvGrpSpPr>
        <p:grpSpPr>
          <a:xfrm>
            <a:off x="4396846" y="4209026"/>
            <a:ext cx="3721283" cy="1544983"/>
            <a:chOff x="4396846" y="4209026"/>
            <a:chExt cx="3721283" cy="1544983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8786A7E-6B2E-8BB2-7342-93AD68438906}"/>
                </a:ext>
              </a:extLst>
            </p:cNvPr>
            <p:cNvCxnSpPr>
              <a:cxnSpLocks/>
            </p:cNvCxnSpPr>
            <p:nvPr/>
          </p:nvCxnSpPr>
          <p:spPr>
            <a:xfrm>
              <a:off x="4396846" y="4989079"/>
              <a:ext cx="106023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813AF185-9E0F-F8C2-4615-5DC2DDD8EE71}"/>
                </a:ext>
              </a:extLst>
            </p:cNvPr>
            <p:cNvSpPr/>
            <p:nvPr/>
          </p:nvSpPr>
          <p:spPr>
            <a:xfrm>
              <a:off x="5489965" y="4209026"/>
              <a:ext cx="2628164" cy="15449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2" descr="ChatGPT - Simple English Wikipedia, the free encyclopedia">
              <a:extLst>
                <a:ext uri="{FF2B5EF4-FFF2-40B4-BE49-F238E27FC236}">
                  <a16:creationId xmlns:a16="http://schemas.microsoft.com/office/drawing/2014/main" id="{DED70FAB-F423-C77B-355C-45C55D9674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397" y="4358885"/>
              <a:ext cx="583096" cy="583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8" descr="Google Gemini Logo PNG HD Download With Transparent Background | PNGHDPro">
              <a:extLst>
                <a:ext uri="{FF2B5EF4-FFF2-40B4-BE49-F238E27FC236}">
                  <a16:creationId xmlns:a16="http://schemas.microsoft.com/office/drawing/2014/main" id="{46DE44C1-64D4-576F-AD34-DF5BF3CC2C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8354" y="4931201"/>
              <a:ext cx="822808" cy="822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0" descr="What is Llama 3? Docs, Demo and How to Deploy | Shakudo">
              <a:extLst>
                <a:ext uri="{FF2B5EF4-FFF2-40B4-BE49-F238E27FC236}">
                  <a16:creationId xmlns:a16="http://schemas.microsoft.com/office/drawing/2014/main" id="{9585D4BD-55C6-6D16-7D82-43B81C6BA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6366" y="4358885"/>
              <a:ext cx="706783" cy="706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8011824-09AA-D92B-3D94-55D8F35823E9}"/>
              </a:ext>
            </a:extLst>
          </p:cNvPr>
          <p:cNvGrpSpPr/>
          <p:nvPr/>
        </p:nvGrpSpPr>
        <p:grpSpPr>
          <a:xfrm>
            <a:off x="8118129" y="4627574"/>
            <a:ext cx="3168975" cy="707886"/>
            <a:chOff x="8118129" y="4627574"/>
            <a:chExt cx="3168975" cy="70788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884545-71B1-D5D7-ECDB-951605568684}"/>
                </a:ext>
              </a:extLst>
            </p:cNvPr>
            <p:cNvSpPr txBox="1"/>
            <p:nvPr/>
          </p:nvSpPr>
          <p:spPr>
            <a:xfrm>
              <a:off x="9159662" y="4627574"/>
              <a:ext cx="2127442" cy="707886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Class: Side Effect</a:t>
              </a:r>
            </a:p>
            <a:p>
              <a:r>
                <a:rPr lang="en-US" sz="2000" dirty="0"/>
                <a:t>Confidence: …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64168AE-4B67-C9F1-D9A3-3E4DB2FFDBD5}"/>
                </a:ext>
              </a:extLst>
            </p:cNvPr>
            <p:cNvCxnSpPr>
              <a:stCxn id="30" idx="3"/>
              <a:endCxn id="35" idx="1"/>
            </p:cNvCxnSpPr>
            <p:nvPr/>
          </p:nvCxnSpPr>
          <p:spPr>
            <a:xfrm flipV="1">
              <a:off x="8118129" y="4981517"/>
              <a:ext cx="10415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433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E29C-C378-A420-0BFD-E2FC233A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EF62-38BA-0FD5-098D-CB9FCDAC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" y="84302"/>
            <a:ext cx="10515600" cy="541336"/>
          </a:xfrm>
        </p:spPr>
        <p:txBody>
          <a:bodyPr>
            <a:noAutofit/>
          </a:bodyPr>
          <a:lstStyle/>
          <a:p>
            <a:r>
              <a:rPr lang="en-US" sz="3600" dirty="0"/>
              <a:t>In-Context Learning of LLMs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F1E57F-3274-DFEF-24B4-335BD7AE1AB0}"/>
              </a:ext>
            </a:extLst>
          </p:cNvPr>
          <p:cNvSpPr/>
          <p:nvPr/>
        </p:nvSpPr>
        <p:spPr>
          <a:xfrm>
            <a:off x="5790278" y="1764742"/>
            <a:ext cx="2628164" cy="154498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hatGPT - Simple English Wikipedia, the free encyclopedia">
            <a:extLst>
              <a:ext uri="{FF2B5EF4-FFF2-40B4-BE49-F238E27FC236}">
                <a16:creationId xmlns:a16="http://schemas.microsoft.com/office/drawing/2014/main" id="{C3787FAB-94AE-B619-7EFE-E3B88D2B3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710" y="1914601"/>
            <a:ext cx="583096" cy="58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Google Gemini Logo PNG HD Download With Transparent Background | PNGHDPro">
            <a:extLst>
              <a:ext uri="{FF2B5EF4-FFF2-40B4-BE49-F238E27FC236}">
                <a16:creationId xmlns:a16="http://schemas.microsoft.com/office/drawing/2014/main" id="{B466EA1B-0E55-352C-F063-DE1484320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667" y="2486917"/>
            <a:ext cx="822808" cy="82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What is Llama 3? Docs, Demo and How to Deploy | Shakudo">
            <a:extLst>
              <a:ext uri="{FF2B5EF4-FFF2-40B4-BE49-F238E27FC236}">
                <a16:creationId xmlns:a16="http://schemas.microsoft.com/office/drawing/2014/main" id="{851179D7-A45B-A623-17A5-7E6FFFF73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679" y="1914601"/>
            <a:ext cx="706783" cy="70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65368E-C102-0832-3DA5-5FE5DF15E8B2}"/>
              </a:ext>
            </a:extLst>
          </p:cNvPr>
          <p:cNvSpPr txBox="1"/>
          <p:nvPr/>
        </p:nvSpPr>
        <p:spPr>
          <a:xfrm>
            <a:off x="9843961" y="2345196"/>
            <a:ext cx="1336648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Test Output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D40ACB-C5DC-D77B-0F3F-5A7EAE3A302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471503" y="2537233"/>
            <a:ext cx="13187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AB19CB-E9FC-3AEB-816D-B507EA67A518}"/>
              </a:ext>
            </a:extLst>
          </p:cNvPr>
          <p:cNvCxnSpPr>
            <a:stCxn id="6" idx="3"/>
            <a:endCxn id="12" idx="1"/>
          </p:cNvCxnSpPr>
          <p:nvPr/>
        </p:nvCxnSpPr>
        <p:spPr>
          <a:xfrm flipV="1">
            <a:off x="8418442" y="2529862"/>
            <a:ext cx="1425519" cy="7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16FF56F-B3C2-0E2B-B3BB-E2B6163806FC}"/>
              </a:ext>
            </a:extLst>
          </p:cNvPr>
          <p:cNvSpPr txBox="1"/>
          <p:nvPr/>
        </p:nvSpPr>
        <p:spPr>
          <a:xfrm>
            <a:off x="281424" y="2329160"/>
            <a:ext cx="1431235" cy="40011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Instruction</a:t>
            </a:r>
          </a:p>
        </p:txBody>
      </p:sp>
      <p:pic>
        <p:nvPicPr>
          <p:cNvPr id="17" name="Picture 16" descr="A red cross on a white background&#10;&#10;AI-generated content may be incorrect.">
            <a:extLst>
              <a:ext uri="{FF2B5EF4-FFF2-40B4-BE49-F238E27FC236}">
                <a16:creationId xmlns:a16="http://schemas.microsoft.com/office/drawing/2014/main" id="{52A18AE7-F424-9C7C-8A79-F4CAD1ADC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8267" y="2287414"/>
            <a:ext cx="502349" cy="541334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F00EFA05-31EF-B64B-03B8-B26BFB36DADD}"/>
              </a:ext>
            </a:extLst>
          </p:cNvPr>
          <p:cNvGrpSpPr/>
          <p:nvPr/>
        </p:nvGrpSpPr>
        <p:grpSpPr>
          <a:xfrm>
            <a:off x="2444843" y="1580485"/>
            <a:ext cx="1968861" cy="1796294"/>
            <a:chOff x="2444843" y="1580485"/>
            <a:chExt cx="1968861" cy="179629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7D4D1C-AF1A-CBEC-A1CE-6BFA944D80EA}"/>
                </a:ext>
              </a:extLst>
            </p:cNvPr>
            <p:cNvSpPr txBox="1"/>
            <p:nvPr/>
          </p:nvSpPr>
          <p:spPr>
            <a:xfrm>
              <a:off x="2451467" y="1580485"/>
              <a:ext cx="977531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Input 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F02ED9-9B30-3352-F008-744224206512}"/>
                </a:ext>
              </a:extLst>
            </p:cNvPr>
            <p:cNvSpPr txBox="1"/>
            <p:nvPr/>
          </p:nvSpPr>
          <p:spPr>
            <a:xfrm>
              <a:off x="3432858" y="1584494"/>
              <a:ext cx="977531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Output 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E60C60-C8BB-E9B2-8C42-08D3AEF46010}"/>
                </a:ext>
              </a:extLst>
            </p:cNvPr>
            <p:cNvSpPr txBox="1"/>
            <p:nvPr/>
          </p:nvSpPr>
          <p:spPr>
            <a:xfrm>
              <a:off x="2444843" y="1921728"/>
              <a:ext cx="977531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Input 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A59729C-1761-59FE-8CDB-4B2B0CFF53E0}"/>
                </a:ext>
              </a:extLst>
            </p:cNvPr>
            <p:cNvSpPr txBox="1"/>
            <p:nvPr/>
          </p:nvSpPr>
          <p:spPr>
            <a:xfrm>
              <a:off x="3436173" y="1915798"/>
              <a:ext cx="977531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Output 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3D1FD-DBF3-D7A2-F0F7-B7C1D4FD58C7}"/>
                </a:ext>
              </a:extLst>
            </p:cNvPr>
            <p:cNvSpPr txBox="1"/>
            <p:nvPr/>
          </p:nvSpPr>
          <p:spPr>
            <a:xfrm>
              <a:off x="2448158" y="3038225"/>
              <a:ext cx="1119988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Test Input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EB68AC9-9A00-86E5-53D1-F5438CAE9006}"/>
                </a:ext>
              </a:extLst>
            </p:cNvPr>
            <p:cNvSpPr/>
            <p:nvPr/>
          </p:nvSpPr>
          <p:spPr>
            <a:xfrm>
              <a:off x="2703442" y="2335698"/>
              <a:ext cx="89452" cy="11927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9B419FC-06A1-5425-AF5E-24A02D9F47D1}"/>
                </a:ext>
              </a:extLst>
            </p:cNvPr>
            <p:cNvSpPr/>
            <p:nvPr/>
          </p:nvSpPr>
          <p:spPr>
            <a:xfrm>
              <a:off x="2706757" y="2527854"/>
              <a:ext cx="89452" cy="11927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31DBEFD-FD96-6ED2-F6AF-15A225BFC6B5}"/>
                </a:ext>
              </a:extLst>
            </p:cNvPr>
            <p:cNvSpPr/>
            <p:nvPr/>
          </p:nvSpPr>
          <p:spPr>
            <a:xfrm>
              <a:off x="2706757" y="2686878"/>
              <a:ext cx="89452" cy="11927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B52E30F-780B-DDE8-DFEF-49601CA1FD3A}"/>
              </a:ext>
            </a:extLst>
          </p:cNvPr>
          <p:cNvSpPr txBox="1"/>
          <p:nvPr/>
        </p:nvSpPr>
        <p:spPr>
          <a:xfrm>
            <a:off x="247530" y="4910284"/>
            <a:ext cx="11605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chemeClr val="accent4">
                    <a:lumMod val="75000"/>
                  </a:schemeClr>
                </a:solidFill>
              </a:rPr>
              <a:t>Few Shot Examples</a:t>
            </a:r>
            <a:r>
              <a:rPr lang="en-US" sz="3200" u="sng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in Input Prompt Leads to </a:t>
            </a:r>
            <a:r>
              <a:rPr lang="en-US" sz="3200" b="1" u="sng" dirty="0">
                <a:solidFill>
                  <a:schemeClr val="accent4">
                    <a:lumMod val="75000"/>
                  </a:schemeClr>
                </a:solidFill>
              </a:rPr>
              <a:t>Better Accuracies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923414-9A66-59C2-723B-67D0DE20B93F}"/>
              </a:ext>
            </a:extLst>
          </p:cNvPr>
          <p:cNvSpPr txBox="1"/>
          <p:nvPr/>
        </p:nvSpPr>
        <p:spPr>
          <a:xfrm>
            <a:off x="2586330" y="2390716"/>
            <a:ext cx="1119988" cy="33855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Test Input</a:t>
            </a:r>
          </a:p>
        </p:txBody>
      </p:sp>
    </p:spTree>
    <p:extLst>
      <p:ext uri="{BB962C8B-B14F-4D97-AF65-F5344CB8AC3E}">
        <p14:creationId xmlns:p14="http://schemas.microsoft.com/office/powerpoint/2010/main" val="285622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E406-D500-4A57-7215-20AD0F1BF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53B0-772D-EAE3-0957-59622A67C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" y="84302"/>
            <a:ext cx="10515600" cy="541336"/>
          </a:xfrm>
        </p:spPr>
        <p:txBody>
          <a:bodyPr>
            <a:noAutofit/>
          </a:bodyPr>
          <a:lstStyle/>
          <a:p>
            <a:r>
              <a:rPr lang="en-US" sz="3600" dirty="0"/>
              <a:t>Which few shot examples should we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D6FF6-59DF-C360-F2F5-3E6E718A5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10" y="791653"/>
            <a:ext cx="11232137" cy="13891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Examples that are </a:t>
            </a:r>
            <a:r>
              <a:rPr lang="en-US" u="sng" dirty="0">
                <a:latin typeface="Calibri"/>
                <a:ea typeface="Calibri"/>
                <a:cs typeface="Calibri"/>
              </a:rPr>
              <a:t>similar to test input </a:t>
            </a:r>
            <a:r>
              <a:rPr lang="en-US" dirty="0">
                <a:latin typeface="Calibri"/>
                <a:ea typeface="Calibri"/>
                <a:cs typeface="Calibri"/>
              </a:rPr>
              <a:t>are more helpful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Retrieve similar examples for test input each time – Retrieval Augmented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DFE90BB4-BF86-2C03-B86A-9D704704B62C}"/>
              </a:ext>
            </a:extLst>
          </p:cNvPr>
          <p:cNvSpPr/>
          <p:nvPr/>
        </p:nvSpPr>
        <p:spPr>
          <a:xfrm>
            <a:off x="4114798" y="3011554"/>
            <a:ext cx="1252331" cy="61622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076B83-3FAC-28C8-9441-0B077DBC8CFE}"/>
              </a:ext>
            </a:extLst>
          </p:cNvPr>
          <p:cNvSpPr/>
          <p:nvPr/>
        </p:nvSpPr>
        <p:spPr>
          <a:xfrm>
            <a:off x="3657534" y="4140445"/>
            <a:ext cx="2166857" cy="703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Nearest Neighbor</a:t>
            </a:r>
          </a:p>
          <a:p>
            <a:pPr algn="ctr"/>
            <a:r>
              <a:rPr lang="en-US" dirty="0"/>
              <a:t>Search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EEA186-FF9F-423C-A44F-E75DA86A5679}"/>
              </a:ext>
            </a:extLst>
          </p:cNvPr>
          <p:cNvGrpSpPr/>
          <p:nvPr/>
        </p:nvGrpSpPr>
        <p:grpSpPr>
          <a:xfrm>
            <a:off x="78594" y="5539495"/>
            <a:ext cx="3140712" cy="541334"/>
            <a:chOff x="78594" y="5539495"/>
            <a:chExt cx="3140712" cy="54133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0CB780-DFEB-4AF1-B54F-490DCB6E3338}"/>
                </a:ext>
              </a:extLst>
            </p:cNvPr>
            <p:cNvSpPr txBox="1"/>
            <p:nvPr/>
          </p:nvSpPr>
          <p:spPr>
            <a:xfrm>
              <a:off x="78594" y="5628946"/>
              <a:ext cx="1431235" cy="400110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Instruction</a:t>
              </a:r>
            </a:p>
          </p:txBody>
        </p:sp>
        <p:pic>
          <p:nvPicPr>
            <p:cNvPr id="15" name="Picture 14" descr="A red cross on a white background&#10;&#10;AI-generated content may be incorrect.">
              <a:extLst>
                <a:ext uri="{FF2B5EF4-FFF2-40B4-BE49-F238E27FC236}">
                  <a16:creationId xmlns:a16="http://schemas.microsoft.com/office/drawing/2014/main" id="{C89168BE-4F83-F448-CABB-FB7FC5C63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9852" y="5539495"/>
              <a:ext cx="502349" cy="54133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39EE59-A77B-5579-4496-B9CCB21D9C94}"/>
                </a:ext>
              </a:extLst>
            </p:cNvPr>
            <p:cNvSpPr txBox="1"/>
            <p:nvPr/>
          </p:nvSpPr>
          <p:spPr>
            <a:xfrm>
              <a:off x="2099318" y="5652736"/>
              <a:ext cx="1119988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Test Input</a:t>
              </a:r>
            </a:p>
          </p:txBody>
        </p:sp>
      </p:grp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AF711955-6C04-176D-6F04-D934067E3439}"/>
              </a:ext>
            </a:extLst>
          </p:cNvPr>
          <p:cNvCxnSpPr>
            <a:stCxn id="19" idx="0"/>
            <a:endCxn id="11" idx="1"/>
          </p:cNvCxnSpPr>
          <p:nvPr/>
        </p:nvCxnSpPr>
        <p:spPr>
          <a:xfrm rot="5400000" flipH="1" flipV="1">
            <a:off x="2578250" y="4573452"/>
            <a:ext cx="1160346" cy="9982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21BB1F-FC5A-4E20-91B2-A93C69EB1861}"/>
              </a:ext>
            </a:extLst>
          </p:cNvPr>
          <p:cNvCxnSpPr>
            <a:stCxn id="5" idx="3"/>
            <a:endCxn id="11" idx="0"/>
          </p:cNvCxnSpPr>
          <p:nvPr/>
        </p:nvCxnSpPr>
        <p:spPr>
          <a:xfrm flipH="1">
            <a:off x="4740963" y="3627780"/>
            <a:ext cx="1" cy="512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411B4EE-C039-F64C-42DB-C8FFEA298F1B}"/>
              </a:ext>
            </a:extLst>
          </p:cNvPr>
          <p:cNvGrpSpPr/>
          <p:nvPr/>
        </p:nvGrpSpPr>
        <p:grpSpPr>
          <a:xfrm>
            <a:off x="3235869" y="4844334"/>
            <a:ext cx="2516243" cy="1286190"/>
            <a:chOff x="3235869" y="4844334"/>
            <a:chExt cx="2516243" cy="128619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966106D-7844-52A9-EA31-63249B8C1D0F}"/>
                </a:ext>
              </a:extLst>
            </p:cNvPr>
            <p:cNvGrpSpPr/>
            <p:nvPr/>
          </p:nvGrpSpPr>
          <p:grpSpPr>
            <a:xfrm>
              <a:off x="3789875" y="5450727"/>
              <a:ext cx="1962237" cy="679797"/>
              <a:chOff x="3789875" y="5450727"/>
              <a:chExt cx="1962237" cy="679797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63900A-5E60-B34B-1F3E-97516DCE1A40}"/>
                  </a:ext>
                </a:extLst>
              </p:cNvPr>
              <p:cNvSpPr txBox="1"/>
              <p:nvPr/>
            </p:nvSpPr>
            <p:spPr>
              <a:xfrm>
                <a:off x="3789875" y="5450727"/>
                <a:ext cx="977531" cy="3385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Input 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FCF0DF5-0B3E-502F-B9FA-D67BCFB212DC}"/>
                  </a:ext>
                </a:extLst>
              </p:cNvPr>
              <p:cNvSpPr txBox="1"/>
              <p:nvPr/>
            </p:nvSpPr>
            <p:spPr>
              <a:xfrm>
                <a:off x="4771266" y="5454736"/>
                <a:ext cx="977531" cy="3385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Output 1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1F6703C-7AC4-8CD1-A67C-EC82313033D6}"/>
                  </a:ext>
                </a:extLst>
              </p:cNvPr>
              <p:cNvSpPr txBox="1"/>
              <p:nvPr/>
            </p:nvSpPr>
            <p:spPr>
              <a:xfrm>
                <a:off x="3793190" y="5791970"/>
                <a:ext cx="977531" cy="3385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Input 2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82789B-6074-A13F-D16E-1CFA8C24BD8A}"/>
                  </a:ext>
                </a:extLst>
              </p:cNvPr>
              <p:cNvSpPr txBox="1"/>
              <p:nvPr/>
            </p:nvSpPr>
            <p:spPr>
              <a:xfrm>
                <a:off x="4774581" y="5786040"/>
                <a:ext cx="977531" cy="3385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Output 2</a:t>
                </a:r>
              </a:p>
            </p:txBody>
          </p:sp>
        </p:grpSp>
        <p:pic>
          <p:nvPicPr>
            <p:cNvPr id="32" name="Picture 31" descr="A red cross on a white background&#10;&#10;AI-generated content may be incorrect.">
              <a:extLst>
                <a:ext uri="{FF2B5EF4-FFF2-40B4-BE49-F238E27FC236}">
                  <a16:creationId xmlns:a16="http://schemas.microsoft.com/office/drawing/2014/main" id="{754FD54D-0D1E-D800-B02A-26D720395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869" y="5576255"/>
              <a:ext cx="502349" cy="541334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9D2E39B-F761-F42B-D080-4ED2DA0B9F9C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4740962" y="4844334"/>
              <a:ext cx="1" cy="5566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7621895-0CA3-A431-23D0-B494CCD6BD06}"/>
              </a:ext>
            </a:extLst>
          </p:cNvPr>
          <p:cNvGrpSpPr/>
          <p:nvPr/>
        </p:nvGrpSpPr>
        <p:grpSpPr>
          <a:xfrm>
            <a:off x="6776030" y="5020798"/>
            <a:ext cx="2628164" cy="1544983"/>
            <a:chOff x="6776030" y="5020798"/>
            <a:chExt cx="2628164" cy="1544983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F2CA5D27-1671-69A6-24F8-F80F1DC4EF8E}"/>
                </a:ext>
              </a:extLst>
            </p:cNvPr>
            <p:cNvSpPr/>
            <p:nvPr/>
          </p:nvSpPr>
          <p:spPr>
            <a:xfrm>
              <a:off x="6776030" y="5020798"/>
              <a:ext cx="2628164" cy="15449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2" descr="ChatGPT - Simple English Wikipedia, the free encyclopedia">
              <a:extLst>
                <a:ext uri="{FF2B5EF4-FFF2-40B4-BE49-F238E27FC236}">
                  <a16:creationId xmlns:a16="http://schemas.microsoft.com/office/drawing/2014/main" id="{1615DB55-5C1B-C504-ABCF-1CB46B6AB9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9462" y="5170657"/>
              <a:ext cx="583096" cy="583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3" descr="Google Gemini Logo PNG HD Download With Transparent Background | PNGHDPro">
              <a:extLst>
                <a:ext uri="{FF2B5EF4-FFF2-40B4-BE49-F238E27FC236}">
                  <a16:creationId xmlns:a16="http://schemas.microsoft.com/office/drawing/2014/main" id="{AC13AC6F-68E8-07B1-C3D5-EB83D07F6C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64419" y="5742973"/>
              <a:ext cx="822808" cy="822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0" descr="What is Llama 3? Docs, Demo and How to Deploy | Shakudo">
              <a:extLst>
                <a:ext uri="{FF2B5EF4-FFF2-40B4-BE49-F238E27FC236}">
                  <a16:creationId xmlns:a16="http://schemas.microsoft.com/office/drawing/2014/main" id="{7ADC55C9-C9AE-15A4-2B54-E19568F14E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2431" y="5170657"/>
              <a:ext cx="706783" cy="706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83F01514-E33F-1ECB-20B6-CF4939817BFF}"/>
              </a:ext>
            </a:extLst>
          </p:cNvPr>
          <p:cNvSpPr txBox="1"/>
          <p:nvPr/>
        </p:nvSpPr>
        <p:spPr>
          <a:xfrm>
            <a:off x="10531536" y="5601252"/>
            <a:ext cx="1336648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Test Output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2C26FBC-D7A6-0069-97FB-849533AAA278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457255" y="5793289"/>
            <a:ext cx="13187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87BFC73-D927-F97A-B67D-EAF0015254B4}"/>
              </a:ext>
            </a:extLst>
          </p:cNvPr>
          <p:cNvCxnSpPr>
            <a:stCxn id="35" idx="3"/>
            <a:endCxn id="46" idx="1"/>
          </p:cNvCxnSpPr>
          <p:nvPr/>
        </p:nvCxnSpPr>
        <p:spPr>
          <a:xfrm flipV="1">
            <a:off x="9404194" y="5785918"/>
            <a:ext cx="1127342" cy="7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F08EBC5-5662-345F-7A90-C670CA63C732}"/>
              </a:ext>
            </a:extLst>
          </p:cNvPr>
          <p:cNvSpPr txBox="1"/>
          <p:nvPr/>
        </p:nvSpPr>
        <p:spPr>
          <a:xfrm>
            <a:off x="6856097" y="3209159"/>
            <a:ext cx="47668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Retrieval Augmented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In-Context Learning - RAIL</a:t>
            </a:r>
          </a:p>
        </p:txBody>
      </p:sp>
    </p:spTree>
    <p:extLst>
      <p:ext uri="{BB962C8B-B14F-4D97-AF65-F5344CB8AC3E}">
        <p14:creationId xmlns:p14="http://schemas.microsoft.com/office/powerpoint/2010/main" val="321435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46" grpId="0" animBg="1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DD349-25AB-9EC3-D7FE-77D43B9F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8B52-5FC7-7CC4-BE6B-7059071A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" y="84302"/>
            <a:ext cx="10515600" cy="541336"/>
          </a:xfrm>
        </p:spPr>
        <p:txBody>
          <a:bodyPr>
            <a:noAutofit/>
          </a:bodyPr>
          <a:lstStyle/>
          <a:p>
            <a:r>
              <a:rPr lang="en-US" sz="3600" dirty="0"/>
              <a:t>Problem with RAIL in case of imbalanced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FD1F3-4FC1-19F7-806B-5CE66F2C2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02" y="2018789"/>
            <a:ext cx="11291772" cy="22397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Calibri"/>
                <a:ea typeface="Calibri"/>
                <a:cs typeface="Calibri"/>
              </a:rPr>
              <a:t>For each test input – Retrieve similar examples</a:t>
            </a:r>
          </a:p>
          <a:p>
            <a:endParaRPr lang="en-US" sz="3200" dirty="0">
              <a:latin typeface="Calibri"/>
              <a:ea typeface="Calibri"/>
              <a:cs typeface="Calibri"/>
            </a:endParaRPr>
          </a:p>
          <a:p>
            <a:r>
              <a:rPr lang="en-US" sz="3200" dirty="0">
                <a:latin typeface="Calibri"/>
                <a:ea typeface="Calibri"/>
                <a:cs typeface="Calibri"/>
              </a:rPr>
              <a:t>Few shot examples are </a:t>
            </a:r>
            <a:r>
              <a:rPr lang="en-US" sz="3200" u="sng" dirty="0">
                <a:latin typeface="Calibri"/>
                <a:ea typeface="Calibri"/>
                <a:cs typeface="Calibri"/>
              </a:rPr>
              <a:t>dominated by the majority class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Not even a single example from the minority class</a:t>
            </a:r>
          </a:p>
        </p:txBody>
      </p:sp>
    </p:spTree>
    <p:extLst>
      <p:ext uri="{BB962C8B-B14F-4D97-AF65-F5344CB8AC3E}">
        <p14:creationId xmlns:p14="http://schemas.microsoft.com/office/powerpoint/2010/main" val="240737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3025F-A665-AA05-3C8E-2B9A3578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5943-2726-C668-F15B-B303B2FB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" y="84302"/>
            <a:ext cx="11658600" cy="524887"/>
          </a:xfrm>
        </p:spPr>
        <p:txBody>
          <a:bodyPr>
            <a:noAutofit/>
          </a:bodyPr>
          <a:lstStyle/>
          <a:p>
            <a:r>
              <a:rPr lang="en-US" sz="3600" u="sng" dirty="0"/>
              <a:t>Contrastive</a:t>
            </a:r>
            <a:r>
              <a:rPr lang="en-US" sz="3600" dirty="0"/>
              <a:t> Retrieval Augmented In-Context Learning : C-RAIL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4BBA1A04-0B74-7F84-3528-DE331201CE57}"/>
              </a:ext>
            </a:extLst>
          </p:cNvPr>
          <p:cNvSpPr/>
          <p:nvPr/>
        </p:nvSpPr>
        <p:spPr>
          <a:xfrm>
            <a:off x="2927670" y="947766"/>
            <a:ext cx="1263830" cy="857292"/>
          </a:xfrm>
          <a:prstGeom prst="ca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Positive</a:t>
            </a:r>
          </a:p>
          <a:p>
            <a:pPr algn="ctr"/>
            <a:r>
              <a:rPr lang="en-US" dirty="0"/>
              <a:t>Examples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60C98D-364C-6C8D-7715-3BBF6EC5D4CC}"/>
              </a:ext>
            </a:extLst>
          </p:cNvPr>
          <p:cNvGrpSpPr/>
          <p:nvPr/>
        </p:nvGrpSpPr>
        <p:grpSpPr>
          <a:xfrm>
            <a:off x="78594" y="4595278"/>
            <a:ext cx="3140712" cy="541334"/>
            <a:chOff x="78594" y="5539495"/>
            <a:chExt cx="3140712" cy="5413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4A1C5F-151B-7899-4720-54F9A49F62A3}"/>
                </a:ext>
              </a:extLst>
            </p:cNvPr>
            <p:cNvSpPr txBox="1"/>
            <p:nvPr/>
          </p:nvSpPr>
          <p:spPr>
            <a:xfrm>
              <a:off x="78594" y="5628946"/>
              <a:ext cx="1431235" cy="400110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Instruction</a:t>
              </a:r>
            </a:p>
          </p:txBody>
        </p:sp>
        <p:pic>
          <p:nvPicPr>
            <p:cNvPr id="7" name="Picture 6" descr="A red cross on a white background&#10;&#10;AI-generated content may be incorrect.">
              <a:extLst>
                <a:ext uri="{FF2B5EF4-FFF2-40B4-BE49-F238E27FC236}">
                  <a16:creationId xmlns:a16="http://schemas.microsoft.com/office/drawing/2014/main" id="{9F757745-8B97-482F-F40D-01125DEE8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9852" y="5539495"/>
              <a:ext cx="502349" cy="5413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DD4BB9-887C-C145-763A-F31CBF6CBC7C}"/>
                </a:ext>
              </a:extLst>
            </p:cNvPr>
            <p:cNvSpPr txBox="1"/>
            <p:nvPr/>
          </p:nvSpPr>
          <p:spPr>
            <a:xfrm>
              <a:off x="2099318" y="5652736"/>
              <a:ext cx="1119988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Test Input</a:t>
              </a:r>
            </a:p>
          </p:txBody>
        </p:sp>
      </p:grpSp>
      <p:pic>
        <p:nvPicPr>
          <p:cNvPr id="13" name="Picture 12" descr="A red cross on a white background&#10;&#10;AI-generated content may be incorrect.">
            <a:extLst>
              <a:ext uri="{FF2B5EF4-FFF2-40B4-BE49-F238E27FC236}">
                <a16:creationId xmlns:a16="http://schemas.microsoft.com/office/drawing/2014/main" id="{82007B3C-A986-245F-2BC1-7B2744FE8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869" y="4632038"/>
            <a:ext cx="502349" cy="541334"/>
          </a:xfrm>
          <a:prstGeom prst="rect">
            <a:avLst/>
          </a:prstGeom>
        </p:spPr>
      </p:pic>
      <p:sp>
        <p:nvSpPr>
          <p:cNvPr id="29" name="Can 28">
            <a:extLst>
              <a:ext uri="{FF2B5EF4-FFF2-40B4-BE49-F238E27FC236}">
                <a16:creationId xmlns:a16="http://schemas.microsoft.com/office/drawing/2014/main" id="{AB95C998-FE80-0647-547B-260DB2F15146}"/>
              </a:ext>
            </a:extLst>
          </p:cNvPr>
          <p:cNvSpPr/>
          <p:nvPr/>
        </p:nvSpPr>
        <p:spPr>
          <a:xfrm>
            <a:off x="5385240" y="953759"/>
            <a:ext cx="1263830" cy="857292"/>
          </a:xfrm>
          <a:prstGeom prst="ca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Negative</a:t>
            </a:r>
          </a:p>
          <a:p>
            <a:pPr algn="ctr"/>
            <a:r>
              <a:rPr lang="en-US" dirty="0"/>
              <a:t>Examples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BA3D0EC-DC6B-A7B4-2DC4-1611BC249733}"/>
              </a:ext>
            </a:extLst>
          </p:cNvPr>
          <p:cNvGrpSpPr/>
          <p:nvPr/>
        </p:nvGrpSpPr>
        <p:grpSpPr>
          <a:xfrm>
            <a:off x="2659312" y="1805057"/>
            <a:ext cx="3357843" cy="2903462"/>
            <a:chOff x="2659312" y="1805057"/>
            <a:chExt cx="3357843" cy="290346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769F4D7-E727-F66D-2A9C-27E470BC9434}"/>
                </a:ext>
              </a:extLst>
            </p:cNvPr>
            <p:cNvSpPr/>
            <p:nvPr/>
          </p:nvSpPr>
          <p:spPr>
            <a:xfrm>
              <a:off x="3657534" y="2420977"/>
              <a:ext cx="2246309" cy="7794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/>
                <a:t>Class-wise</a:t>
              </a:r>
              <a:r>
                <a:rPr lang="en-US" dirty="0"/>
                <a:t> Nearest Neighbor Search</a:t>
              </a:r>
            </a:p>
          </p:txBody>
        </p: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FE4FC83E-7225-4513-85E6-091843B8767F}"/>
                </a:ext>
              </a:extLst>
            </p:cNvPr>
            <p:cNvCxnSpPr>
              <a:cxnSpLocks/>
              <a:stCxn id="8" idx="0"/>
              <a:endCxn id="4" idx="1"/>
            </p:cNvCxnSpPr>
            <p:nvPr/>
          </p:nvCxnSpPr>
          <p:spPr>
            <a:xfrm rot="5400000" flipH="1" flipV="1">
              <a:off x="2209507" y="3260492"/>
              <a:ext cx="1897832" cy="99822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>
              <a:extLst>
                <a:ext uri="{FF2B5EF4-FFF2-40B4-BE49-F238E27FC236}">
                  <a16:creationId xmlns:a16="http://schemas.microsoft.com/office/drawing/2014/main" id="{687DC0F4-C1F3-CB0D-BBF7-876EFBA2F576}"/>
                </a:ext>
              </a:extLst>
            </p:cNvPr>
            <p:cNvCxnSpPr>
              <a:cxnSpLocks/>
              <a:stCxn id="3" idx="3"/>
              <a:endCxn id="4" idx="0"/>
            </p:cNvCxnSpPr>
            <p:nvPr/>
          </p:nvCxnSpPr>
          <p:spPr>
            <a:xfrm rot="16200000" flipH="1">
              <a:off x="3862178" y="1502465"/>
              <a:ext cx="615919" cy="122110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>
              <a:extLst>
                <a:ext uri="{FF2B5EF4-FFF2-40B4-BE49-F238E27FC236}">
                  <a16:creationId xmlns:a16="http://schemas.microsoft.com/office/drawing/2014/main" id="{4B4409B9-F0C7-6427-0A24-C7020FA68181}"/>
                </a:ext>
              </a:extLst>
            </p:cNvPr>
            <p:cNvCxnSpPr>
              <a:cxnSpLocks/>
              <a:stCxn id="29" idx="3"/>
              <a:endCxn id="4" idx="0"/>
            </p:cNvCxnSpPr>
            <p:nvPr/>
          </p:nvCxnSpPr>
          <p:spPr>
            <a:xfrm rot="5400000">
              <a:off x="5093959" y="1497781"/>
              <a:ext cx="609926" cy="123646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6AF32A-9AD0-AA83-55B2-B69C5657BCF3}"/>
              </a:ext>
            </a:extLst>
          </p:cNvPr>
          <p:cNvGrpSpPr/>
          <p:nvPr/>
        </p:nvGrpSpPr>
        <p:grpSpPr>
          <a:xfrm>
            <a:off x="3776626" y="3830650"/>
            <a:ext cx="1975486" cy="1700911"/>
            <a:chOff x="3776626" y="3830650"/>
            <a:chExt cx="1975486" cy="170091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F8E143-9375-816B-DDDA-67A5BFF11DC8}"/>
                </a:ext>
              </a:extLst>
            </p:cNvPr>
            <p:cNvSpPr txBox="1"/>
            <p:nvPr/>
          </p:nvSpPr>
          <p:spPr>
            <a:xfrm>
              <a:off x="3789875" y="3830650"/>
              <a:ext cx="977531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Input 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A746DD-01CA-7980-2717-A51F952B73D6}"/>
                </a:ext>
              </a:extLst>
            </p:cNvPr>
            <p:cNvSpPr txBox="1"/>
            <p:nvPr/>
          </p:nvSpPr>
          <p:spPr>
            <a:xfrm>
              <a:off x="4771266" y="3834659"/>
              <a:ext cx="977531" cy="3385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Output 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1FEBF21-C249-2D54-2E32-75C522788680}"/>
                </a:ext>
              </a:extLst>
            </p:cNvPr>
            <p:cNvSpPr txBox="1"/>
            <p:nvPr/>
          </p:nvSpPr>
          <p:spPr>
            <a:xfrm>
              <a:off x="3793190" y="4171893"/>
              <a:ext cx="977531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Input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7A965C-CA6C-D110-C375-29EE966F3B2D}"/>
                </a:ext>
              </a:extLst>
            </p:cNvPr>
            <p:cNvSpPr txBox="1"/>
            <p:nvPr/>
          </p:nvSpPr>
          <p:spPr>
            <a:xfrm>
              <a:off x="4774581" y="4175902"/>
              <a:ext cx="97753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Output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26AEB4F-EA54-6310-3504-9001214DF07B}"/>
                </a:ext>
              </a:extLst>
            </p:cNvPr>
            <p:cNvSpPr txBox="1"/>
            <p:nvPr/>
          </p:nvSpPr>
          <p:spPr>
            <a:xfrm>
              <a:off x="3776626" y="5188998"/>
              <a:ext cx="977531" cy="338554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Input 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EA372D3-462A-9387-6ED4-84522E31856B}"/>
                </a:ext>
              </a:extLst>
            </p:cNvPr>
            <p:cNvSpPr txBox="1"/>
            <p:nvPr/>
          </p:nvSpPr>
          <p:spPr>
            <a:xfrm>
              <a:off x="4758017" y="5193007"/>
              <a:ext cx="97753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Output n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55A3D8F-792B-77AE-6D52-F89BB5991B87}"/>
              </a:ext>
            </a:extLst>
          </p:cNvPr>
          <p:cNvGrpSpPr/>
          <p:nvPr/>
        </p:nvGrpSpPr>
        <p:grpSpPr>
          <a:xfrm>
            <a:off x="5903843" y="4046766"/>
            <a:ext cx="5964341" cy="1544983"/>
            <a:chOff x="5903843" y="4046766"/>
            <a:chExt cx="5964341" cy="154498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ED8492-A03A-BC09-DC00-5C58D2DDA77B}"/>
                </a:ext>
              </a:extLst>
            </p:cNvPr>
            <p:cNvGrpSpPr/>
            <p:nvPr/>
          </p:nvGrpSpPr>
          <p:grpSpPr>
            <a:xfrm>
              <a:off x="6776030" y="4046766"/>
              <a:ext cx="2628164" cy="1544983"/>
              <a:chOff x="6776030" y="5020798"/>
              <a:chExt cx="2628164" cy="1544983"/>
            </a:xfrm>
          </p:grpSpPr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0EE9C0CD-0290-ACF2-D88C-851B153E87D7}"/>
                  </a:ext>
                </a:extLst>
              </p:cNvPr>
              <p:cNvSpPr/>
              <p:nvPr/>
            </p:nvSpPr>
            <p:spPr>
              <a:xfrm>
                <a:off x="6776030" y="5020798"/>
                <a:ext cx="2628164" cy="1544983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1" name="Picture 2" descr="ChatGPT - Simple English Wikipedia, the free encyclopedia">
                <a:extLst>
                  <a:ext uri="{FF2B5EF4-FFF2-40B4-BE49-F238E27FC236}">
                    <a16:creationId xmlns:a16="http://schemas.microsoft.com/office/drawing/2014/main" id="{BCA393C2-DB7A-932B-D397-1AEB95792C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99462" y="5170657"/>
                <a:ext cx="583096" cy="5830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2" descr="Google Gemini Logo PNG HD Download With Transparent Background | PNGHDPro">
                <a:extLst>
                  <a:ext uri="{FF2B5EF4-FFF2-40B4-BE49-F238E27FC236}">
                    <a16:creationId xmlns:a16="http://schemas.microsoft.com/office/drawing/2014/main" id="{34A121E7-BCF1-FC84-22CA-6022FDC6F3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64419" y="5742973"/>
                <a:ext cx="822808" cy="8228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10" descr="What is Llama 3? Docs, Demo and How to Deploy | Shakudo">
                <a:extLst>
                  <a:ext uri="{FF2B5EF4-FFF2-40B4-BE49-F238E27FC236}">
                    <a16:creationId xmlns:a16="http://schemas.microsoft.com/office/drawing/2014/main" id="{045B92E5-6811-C10C-022B-FBD3C083CC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2431" y="5170657"/>
                <a:ext cx="706783" cy="7067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3A68ED3-B38A-19AE-2EF9-81055F71FB65}"/>
                </a:ext>
              </a:extLst>
            </p:cNvPr>
            <p:cNvSpPr txBox="1"/>
            <p:nvPr/>
          </p:nvSpPr>
          <p:spPr>
            <a:xfrm>
              <a:off x="10531536" y="4627220"/>
              <a:ext cx="1336648" cy="369332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Test Output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420ED48-7913-6970-E150-B1DAC47BA20E}"/>
                </a:ext>
              </a:extLst>
            </p:cNvPr>
            <p:cNvCxnSpPr>
              <a:stCxn id="20" idx="3"/>
              <a:endCxn id="25" idx="1"/>
            </p:cNvCxnSpPr>
            <p:nvPr/>
          </p:nvCxnSpPr>
          <p:spPr>
            <a:xfrm flipV="1">
              <a:off x="9404194" y="4811886"/>
              <a:ext cx="1127342" cy="73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ADC8FD6-7B26-DF38-9C54-7EBDB3E9BC62}"/>
                </a:ext>
              </a:extLst>
            </p:cNvPr>
            <p:cNvCxnSpPr>
              <a:cxnSpLocks/>
            </p:cNvCxnSpPr>
            <p:nvPr/>
          </p:nvCxnSpPr>
          <p:spPr>
            <a:xfrm>
              <a:off x="5903843" y="4882307"/>
              <a:ext cx="8721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741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C37B96C-468B-CEB4-FF9B-E483AC905508}"/>
              </a:ext>
            </a:extLst>
          </p:cNvPr>
          <p:cNvSpPr/>
          <p:nvPr/>
        </p:nvSpPr>
        <p:spPr>
          <a:xfrm>
            <a:off x="1052455" y="4041143"/>
            <a:ext cx="1277087" cy="10221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55762-403C-6F02-BAD2-7E06B164EF91}"/>
              </a:ext>
            </a:extLst>
          </p:cNvPr>
          <p:cNvSpPr txBox="1"/>
          <p:nvPr/>
        </p:nvSpPr>
        <p:spPr>
          <a:xfrm>
            <a:off x="1052456" y="4120384"/>
            <a:ext cx="1375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BP: 84</a:t>
            </a:r>
          </a:p>
          <a:p>
            <a:r>
              <a:rPr lang="en-US" sz="1600" dirty="0"/>
              <a:t>Glucose: 125</a:t>
            </a:r>
          </a:p>
          <a:p>
            <a:r>
              <a:rPr lang="en-US" sz="1600" dirty="0"/>
              <a:t>TLC: 1.63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32D4F8-DEE6-7A85-6090-F568360EA154}"/>
              </a:ext>
            </a:extLst>
          </p:cNvPr>
          <p:cNvSpPr/>
          <p:nvPr/>
        </p:nvSpPr>
        <p:spPr>
          <a:xfrm>
            <a:off x="8318328" y="4078015"/>
            <a:ext cx="1464130" cy="917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52D004AA-2273-3A98-F1C3-BAB50AFC9CD6}"/>
              </a:ext>
            </a:extLst>
          </p:cNvPr>
          <p:cNvSpPr/>
          <p:nvPr/>
        </p:nvSpPr>
        <p:spPr>
          <a:xfrm>
            <a:off x="7518400" y="1368007"/>
            <a:ext cx="635000" cy="213608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E4A2AD2-1E03-0C53-7BBF-22956A60C207}"/>
              </a:ext>
            </a:extLst>
          </p:cNvPr>
          <p:cNvCxnSpPr>
            <a:cxnSpLocks/>
            <a:endCxn id="24" idx="0"/>
          </p:cNvCxnSpPr>
          <p:nvPr/>
        </p:nvCxnSpPr>
        <p:spPr>
          <a:xfrm rot="16200000" flipH="1">
            <a:off x="7803865" y="2831487"/>
            <a:ext cx="1596062" cy="896993"/>
          </a:xfrm>
          <a:prstGeom prst="bentConnector3">
            <a:avLst>
              <a:gd name="adj1" fmla="val -25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1388AD9-7C86-CCED-22E0-2C871BAB545D}"/>
              </a:ext>
            </a:extLst>
          </p:cNvPr>
          <p:cNvCxnSpPr>
            <a:cxnSpLocks/>
            <a:stCxn id="2" idx="2"/>
            <a:endCxn id="24" idx="2"/>
          </p:cNvCxnSpPr>
          <p:nvPr/>
        </p:nvCxnSpPr>
        <p:spPr>
          <a:xfrm rot="5400000" flipH="1" flipV="1">
            <a:off x="5336811" y="1349700"/>
            <a:ext cx="67769" cy="7359394"/>
          </a:xfrm>
          <a:prstGeom prst="bentConnector3">
            <a:avLst>
              <a:gd name="adj1" fmla="val -13492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B9C54D-8DCB-9EC2-91E2-2E3AD4CECD5F}"/>
              </a:ext>
            </a:extLst>
          </p:cNvPr>
          <p:cNvCxnSpPr>
            <a:stCxn id="24" idx="3"/>
          </p:cNvCxnSpPr>
          <p:nvPr/>
        </p:nvCxnSpPr>
        <p:spPr>
          <a:xfrm flipV="1">
            <a:off x="9782458" y="4535883"/>
            <a:ext cx="974442" cy="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4A98AC-E469-F51E-189F-67586FFA5988}"/>
              </a:ext>
            </a:extLst>
          </p:cNvPr>
          <p:cNvGrpSpPr/>
          <p:nvPr/>
        </p:nvGrpSpPr>
        <p:grpSpPr>
          <a:xfrm>
            <a:off x="3962741" y="1323260"/>
            <a:ext cx="3292588" cy="2683999"/>
            <a:chOff x="3962741" y="1323260"/>
            <a:chExt cx="3292588" cy="268399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30F3D5D5-387D-F0F5-AE58-45944111F3A3}"/>
                </a:ext>
              </a:extLst>
            </p:cNvPr>
            <p:cNvSpPr/>
            <p:nvPr/>
          </p:nvSpPr>
          <p:spPr>
            <a:xfrm>
              <a:off x="3984342" y="1323260"/>
              <a:ext cx="1277087" cy="102213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A2A9E4-1CE1-2809-4FA9-FC7EFC70906A}"/>
                </a:ext>
              </a:extLst>
            </p:cNvPr>
            <p:cNvSpPr txBox="1"/>
            <p:nvPr/>
          </p:nvSpPr>
          <p:spPr>
            <a:xfrm>
              <a:off x="3962741" y="1368008"/>
              <a:ext cx="13750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BP: 82</a:t>
              </a:r>
            </a:p>
            <a:p>
              <a:r>
                <a:rPr lang="en-US" sz="1600" dirty="0"/>
                <a:t>Glucose: 122</a:t>
              </a:r>
            </a:p>
            <a:p>
              <a:r>
                <a:rPr lang="en-US" sz="1600" dirty="0"/>
                <a:t>TLC: 1.30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3E3E4BB-F033-7719-455A-5A99ECC9414B}"/>
                </a:ext>
              </a:extLst>
            </p:cNvPr>
            <p:cNvSpPr/>
            <p:nvPr/>
          </p:nvSpPr>
          <p:spPr>
            <a:xfrm>
              <a:off x="3984171" y="2481953"/>
              <a:ext cx="1277087" cy="102213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5DFD64-3066-AFA9-424D-0516C50D71E8}"/>
                </a:ext>
              </a:extLst>
            </p:cNvPr>
            <p:cNvSpPr txBox="1"/>
            <p:nvPr/>
          </p:nvSpPr>
          <p:spPr>
            <a:xfrm>
              <a:off x="3975270" y="2526701"/>
              <a:ext cx="13750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BP: 83</a:t>
              </a:r>
            </a:p>
            <a:p>
              <a:r>
                <a:rPr lang="en-US" sz="1600" dirty="0"/>
                <a:t>Glucose: 120</a:t>
              </a:r>
            </a:p>
            <a:p>
              <a:r>
                <a:rPr lang="en-US" sz="1600" dirty="0"/>
                <a:t>TLC: 1.60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42703A2-336B-1243-166F-1EC297FCCDE3}"/>
                </a:ext>
              </a:extLst>
            </p:cNvPr>
            <p:cNvSpPr/>
            <p:nvPr/>
          </p:nvSpPr>
          <p:spPr>
            <a:xfrm>
              <a:off x="5889342" y="1323260"/>
              <a:ext cx="1277087" cy="10221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71591D-709F-E2C6-78A1-29500395B307}"/>
                </a:ext>
              </a:extLst>
            </p:cNvPr>
            <p:cNvSpPr txBox="1"/>
            <p:nvPr/>
          </p:nvSpPr>
          <p:spPr>
            <a:xfrm>
              <a:off x="5867741" y="1368008"/>
              <a:ext cx="13750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BP: 83</a:t>
              </a:r>
            </a:p>
            <a:p>
              <a:r>
                <a:rPr lang="en-US" sz="1600" dirty="0"/>
                <a:t>Glucose: 125</a:t>
              </a:r>
            </a:p>
            <a:p>
              <a:r>
                <a:rPr lang="en-US" sz="1600" dirty="0"/>
                <a:t>TLC: 1.28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5874589-06EF-244A-3AB8-5A793AFE3520}"/>
                </a:ext>
              </a:extLst>
            </p:cNvPr>
            <p:cNvSpPr/>
            <p:nvPr/>
          </p:nvSpPr>
          <p:spPr>
            <a:xfrm>
              <a:off x="5889171" y="2481953"/>
              <a:ext cx="1277087" cy="10221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661333-2835-22E2-2DBA-672EB3FA350C}"/>
                </a:ext>
              </a:extLst>
            </p:cNvPr>
            <p:cNvSpPr txBox="1"/>
            <p:nvPr/>
          </p:nvSpPr>
          <p:spPr>
            <a:xfrm>
              <a:off x="5880270" y="2526701"/>
              <a:ext cx="13750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BP: 84</a:t>
              </a:r>
            </a:p>
            <a:p>
              <a:r>
                <a:rPr lang="en-US" sz="1600" dirty="0"/>
                <a:t>Glucose: 130</a:t>
              </a:r>
            </a:p>
            <a:p>
              <a:r>
                <a:rPr lang="en-US" sz="1600" dirty="0"/>
                <a:t>TLC: 1.46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3002F797-1452-3AB2-D14F-F22FBE7BF65F}"/>
                </a:ext>
              </a:extLst>
            </p:cNvPr>
            <p:cNvCxnSpPr>
              <a:cxnSpLocks/>
              <a:stCxn id="7" idx="0"/>
              <a:endCxn id="8" idx="2"/>
            </p:cNvCxnSpPr>
            <p:nvPr/>
          </p:nvCxnSpPr>
          <p:spPr>
            <a:xfrm rot="16200000" flipV="1">
              <a:off x="4851952" y="3274854"/>
              <a:ext cx="503168" cy="96164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FEB36DE7-05D8-5707-31DF-FCE922F28188}"/>
                </a:ext>
              </a:extLst>
            </p:cNvPr>
            <p:cNvCxnSpPr>
              <a:cxnSpLocks/>
              <a:stCxn id="7" idx="0"/>
              <a:endCxn id="12" idx="2"/>
            </p:cNvCxnSpPr>
            <p:nvPr/>
          </p:nvCxnSpPr>
          <p:spPr>
            <a:xfrm rot="5400000" flipH="1" flipV="1">
              <a:off x="5804452" y="3283996"/>
              <a:ext cx="503168" cy="94335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40" descr="A red circle with a white x in it&#10;&#10;AI-generated content may be incorrect.">
              <a:extLst>
                <a:ext uri="{FF2B5EF4-FFF2-40B4-BE49-F238E27FC236}">
                  <a16:creationId xmlns:a16="http://schemas.microsoft.com/office/drawing/2014/main" id="{475AAFD0-E7F9-80CA-C4F7-9FB5A7024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2030" y="3216841"/>
              <a:ext cx="256497" cy="242895"/>
            </a:xfrm>
            <a:prstGeom prst="rect">
              <a:avLst/>
            </a:prstGeom>
          </p:spPr>
        </p:pic>
        <p:pic>
          <p:nvPicPr>
            <p:cNvPr id="42" name="Picture 41" descr="A red circle with a white x in it&#10;&#10;AI-generated content may be incorrect.">
              <a:extLst>
                <a:ext uri="{FF2B5EF4-FFF2-40B4-BE49-F238E27FC236}">
                  <a16:creationId xmlns:a16="http://schemas.microsoft.com/office/drawing/2014/main" id="{A40120BA-DAF0-E0A6-A56D-B0CA59B8C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47675" y="2061283"/>
              <a:ext cx="256497" cy="242895"/>
            </a:xfrm>
            <a:prstGeom prst="rect">
              <a:avLst/>
            </a:prstGeom>
          </p:spPr>
        </p:pic>
        <p:pic>
          <p:nvPicPr>
            <p:cNvPr id="44" name="Picture 43" descr="A green circle with a white check mark&#10;&#10;AI-generated content may be incorrect.">
              <a:extLst>
                <a:ext uri="{FF2B5EF4-FFF2-40B4-BE49-F238E27FC236}">
                  <a16:creationId xmlns:a16="http://schemas.microsoft.com/office/drawing/2014/main" id="{8CE0E772-202E-CE9E-8DE7-89F959AA9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978" y="3207198"/>
              <a:ext cx="234069" cy="231997"/>
            </a:xfrm>
            <a:prstGeom prst="rect">
              <a:avLst/>
            </a:prstGeom>
          </p:spPr>
        </p:pic>
        <p:pic>
          <p:nvPicPr>
            <p:cNvPr id="45" name="Picture 44" descr="A green circle with a white check mark&#10;&#10;AI-generated content may be incorrect.">
              <a:extLst>
                <a:ext uri="{FF2B5EF4-FFF2-40B4-BE49-F238E27FC236}">
                  <a16:creationId xmlns:a16="http://schemas.microsoft.com/office/drawing/2014/main" id="{4EC7F5ED-35B0-31FA-F2E6-9E998B205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5136" y="2051950"/>
              <a:ext cx="234069" cy="231997"/>
            </a:xfrm>
            <a:prstGeom prst="rect">
              <a:avLst/>
            </a:prstGeom>
          </p:spPr>
        </p:pic>
      </p:grpSp>
      <p:pic>
        <p:nvPicPr>
          <p:cNvPr id="46" name="Picture 45" descr="A green circle with a white check mark&#10;&#10;AI-generated content may be incorrect.">
            <a:extLst>
              <a:ext uri="{FF2B5EF4-FFF2-40B4-BE49-F238E27FC236}">
                <a16:creationId xmlns:a16="http://schemas.microsoft.com/office/drawing/2014/main" id="{64B1C30E-1E93-5DC9-9004-BC35509D5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471" y="4208774"/>
            <a:ext cx="614234" cy="60879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E649524-7A7C-219A-4265-3D0960136EE4}"/>
              </a:ext>
            </a:extLst>
          </p:cNvPr>
          <p:cNvGrpSpPr/>
          <p:nvPr/>
        </p:nvGrpSpPr>
        <p:grpSpPr>
          <a:xfrm>
            <a:off x="2427515" y="4007259"/>
            <a:ext cx="4447621" cy="1022138"/>
            <a:chOff x="2427515" y="4007259"/>
            <a:chExt cx="4447621" cy="102213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EF65A95-7AE1-746C-762B-449069440B84}"/>
                </a:ext>
              </a:extLst>
            </p:cNvPr>
            <p:cNvSpPr/>
            <p:nvPr/>
          </p:nvSpPr>
          <p:spPr>
            <a:xfrm>
              <a:off x="4293578" y="4007259"/>
              <a:ext cx="2581558" cy="10221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Class-wise</a:t>
              </a:r>
            </a:p>
            <a:p>
              <a:pPr algn="ctr"/>
              <a:r>
                <a:rPr lang="en-US" dirty="0"/>
                <a:t>K-Nearest  Neighbors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B2AE596-DF2D-C625-AC02-0EACE47778AF}"/>
                </a:ext>
              </a:extLst>
            </p:cNvPr>
            <p:cNvCxnSpPr>
              <a:cxnSpLocks/>
              <a:stCxn id="3" idx="3"/>
              <a:endCxn id="7" idx="1"/>
            </p:cNvCxnSpPr>
            <p:nvPr/>
          </p:nvCxnSpPr>
          <p:spPr>
            <a:xfrm flipV="1">
              <a:off x="2427515" y="4518328"/>
              <a:ext cx="1866063" cy="175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8EDFD074-9E8A-8756-2469-D569D0C23D90}"/>
              </a:ext>
            </a:extLst>
          </p:cNvPr>
          <p:cNvSpPr txBox="1">
            <a:spLocks/>
          </p:cNvSpPr>
          <p:nvPr/>
        </p:nvSpPr>
        <p:spPr>
          <a:xfrm>
            <a:off x="19878" y="84302"/>
            <a:ext cx="10515600" cy="5413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Example Run for C-RAIL</a:t>
            </a:r>
          </a:p>
        </p:txBody>
      </p:sp>
    </p:spTree>
    <p:extLst>
      <p:ext uri="{BB962C8B-B14F-4D97-AF65-F5344CB8AC3E}">
        <p14:creationId xmlns:p14="http://schemas.microsoft.com/office/powerpoint/2010/main" val="108563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FB31-DD15-BF93-4FE2-FCE21712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0A447B-2786-C367-7198-C6AB6FC5536E}"/>
              </a:ext>
            </a:extLst>
          </p:cNvPr>
          <p:cNvSpPr txBox="1">
            <a:spLocks/>
          </p:cNvSpPr>
          <p:nvPr/>
        </p:nvSpPr>
        <p:spPr>
          <a:xfrm>
            <a:off x="19878" y="84302"/>
            <a:ext cx="10515600" cy="5413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Example Prompt for C-RAIL</a:t>
            </a:r>
          </a:p>
        </p:txBody>
      </p:sp>
      <p:pic>
        <p:nvPicPr>
          <p:cNvPr id="18" name="Picture 17" descr="A screenshot of a medical test&#10;&#10;AI-generated content may be incorrect.">
            <a:extLst>
              <a:ext uri="{FF2B5EF4-FFF2-40B4-BE49-F238E27FC236}">
                <a16:creationId xmlns:a16="http://schemas.microsoft.com/office/drawing/2014/main" id="{CBF7EBD4-27A9-A057-28AF-BEA117D01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80" y="733458"/>
            <a:ext cx="5165311" cy="55452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02759A-640F-56AC-16DF-0898C643A7A4}"/>
              </a:ext>
            </a:extLst>
          </p:cNvPr>
          <p:cNvSpPr txBox="1"/>
          <p:nvPr/>
        </p:nvSpPr>
        <p:spPr>
          <a:xfrm>
            <a:off x="375267" y="3244480"/>
            <a:ext cx="5435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2-shot example prompt for C-RAIL</a:t>
            </a:r>
          </a:p>
        </p:txBody>
      </p:sp>
    </p:spTree>
    <p:extLst>
      <p:ext uri="{BB962C8B-B14F-4D97-AF65-F5344CB8AC3E}">
        <p14:creationId xmlns:p14="http://schemas.microsoft.com/office/powerpoint/2010/main" val="395201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37B10-68C1-5024-6A68-29D66B28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E597BE-9A90-7C5A-D596-E953204C8E59}"/>
              </a:ext>
            </a:extLst>
          </p:cNvPr>
          <p:cNvSpPr txBox="1">
            <a:spLocks/>
          </p:cNvSpPr>
          <p:nvPr/>
        </p:nvSpPr>
        <p:spPr>
          <a:xfrm>
            <a:off x="19878" y="84302"/>
            <a:ext cx="10515600" cy="5413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How to find similar examples : K Nearest Neighbor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95237F9-8D07-3082-0F6C-28297D2640B2}"/>
              </a:ext>
            </a:extLst>
          </p:cNvPr>
          <p:cNvSpPr txBox="1">
            <a:spLocks/>
          </p:cNvSpPr>
          <p:nvPr/>
        </p:nvSpPr>
        <p:spPr>
          <a:xfrm>
            <a:off x="197863" y="781715"/>
            <a:ext cx="11291772" cy="541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alibri"/>
                <a:ea typeface="Calibri"/>
                <a:cs typeface="Calibri"/>
              </a:rPr>
              <a:t>Each input is represented as a feature vector 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E10953-EACD-991F-F881-B8BD98BA1A92}"/>
              </a:ext>
            </a:extLst>
          </p:cNvPr>
          <p:cNvSpPr/>
          <p:nvPr/>
        </p:nvSpPr>
        <p:spPr>
          <a:xfrm>
            <a:off x="1451113" y="1550854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Glucose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9ACD54-DD64-FEC5-378B-233346BD36BA}"/>
              </a:ext>
            </a:extLst>
          </p:cNvPr>
          <p:cNvSpPr/>
          <p:nvPr/>
        </p:nvSpPr>
        <p:spPr>
          <a:xfrm>
            <a:off x="1454428" y="1931852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F97734-49C2-F075-B800-6AB097623EED}"/>
              </a:ext>
            </a:extLst>
          </p:cNvPr>
          <p:cNvSpPr/>
          <p:nvPr/>
        </p:nvSpPr>
        <p:spPr>
          <a:xfrm>
            <a:off x="2531169" y="1544226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D865CF-1192-7FD5-511F-AB957B20486C}"/>
              </a:ext>
            </a:extLst>
          </p:cNvPr>
          <p:cNvSpPr/>
          <p:nvPr/>
        </p:nvSpPr>
        <p:spPr>
          <a:xfrm>
            <a:off x="2531169" y="1938480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A03406-AE3B-D366-F584-09A410CD29E4}"/>
              </a:ext>
            </a:extLst>
          </p:cNvPr>
          <p:cNvSpPr/>
          <p:nvPr/>
        </p:nvSpPr>
        <p:spPr>
          <a:xfrm>
            <a:off x="3604595" y="1547391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BMI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09AC76-C551-5F5C-6674-573C57E190E1}"/>
              </a:ext>
            </a:extLst>
          </p:cNvPr>
          <p:cNvSpPr/>
          <p:nvPr/>
        </p:nvSpPr>
        <p:spPr>
          <a:xfrm>
            <a:off x="3604595" y="1938480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33.6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8E7AE2-1E85-5E0B-BDA6-DD4E5AEB6403}"/>
              </a:ext>
            </a:extLst>
          </p:cNvPr>
          <p:cNvSpPr/>
          <p:nvPr/>
        </p:nvSpPr>
        <p:spPr>
          <a:xfrm>
            <a:off x="4681336" y="1540767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ABFCA4-A891-DCEC-6EFD-A0B9C5351569}"/>
              </a:ext>
            </a:extLst>
          </p:cNvPr>
          <p:cNvSpPr/>
          <p:nvPr/>
        </p:nvSpPr>
        <p:spPr>
          <a:xfrm>
            <a:off x="4681336" y="1931856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26A436-55F3-85E8-62CD-1A3042B899D9}"/>
              </a:ext>
            </a:extLst>
          </p:cNvPr>
          <p:cNvSpPr/>
          <p:nvPr/>
        </p:nvSpPr>
        <p:spPr>
          <a:xfrm>
            <a:off x="5758076" y="1544082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Pregnancy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A62FEA-99BB-C739-3DD1-429BE6CBD38E}"/>
              </a:ext>
            </a:extLst>
          </p:cNvPr>
          <p:cNvSpPr/>
          <p:nvPr/>
        </p:nvSpPr>
        <p:spPr>
          <a:xfrm>
            <a:off x="5758076" y="1935171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6A401A-4B70-0276-03F5-E8EAE5EAF36A}"/>
              </a:ext>
            </a:extLst>
          </p:cNvPr>
          <p:cNvSpPr/>
          <p:nvPr/>
        </p:nvSpPr>
        <p:spPr>
          <a:xfrm>
            <a:off x="6834817" y="1547397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Insulin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EBD6C6-4974-352B-14C6-895C0DDC829D}"/>
              </a:ext>
            </a:extLst>
          </p:cNvPr>
          <p:cNvSpPr/>
          <p:nvPr/>
        </p:nvSpPr>
        <p:spPr>
          <a:xfrm>
            <a:off x="6834817" y="1938486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D16BC3-CA05-188F-C886-6E50DD81F510}"/>
              </a:ext>
            </a:extLst>
          </p:cNvPr>
          <p:cNvSpPr/>
          <p:nvPr/>
        </p:nvSpPr>
        <p:spPr>
          <a:xfrm>
            <a:off x="7911556" y="1540773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DPF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30B23B-2AF0-0CEE-1227-BFA1392A46BD}"/>
              </a:ext>
            </a:extLst>
          </p:cNvPr>
          <p:cNvSpPr/>
          <p:nvPr/>
        </p:nvSpPr>
        <p:spPr>
          <a:xfrm>
            <a:off x="7911556" y="1931862"/>
            <a:ext cx="1073426" cy="3876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0.62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20FDEE0-E685-24C6-10B2-196DECE2E50B}"/>
              </a:ext>
            </a:extLst>
          </p:cNvPr>
          <p:cNvGrpSpPr/>
          <p:nvPr/>
        </p:nvGrpSpPr>
        <p:grpSpPr>
          <a:xfrm>
            <a:off x="234310" y="2519921"/>
            <a:ext cx="11291772" cy="2399954"/>
            <a:chOff x="234310" y="2519921"/>
            <a:chExt cx="11291772" cy="2399954"/>
          </a:xfrm>
        </p:grpSpPr>
        <p:sp>
          <p:nvSpPr>
            <p:cNvPr id="37" name="Content Placeholder 2">
              <a:extLst>
                <a:ext uri="{FF2B5EF4-FFF2-40B4-BE49-F238E27FC236}">
                  <a16:creationId xmlns:a16="http://schemas.microsoft.com/office/drawing/2014/main" id="{8A6EB183-4030-A287-0632-243FB064C7BF}"/>
                </a:ext>
              </a:extLst>
            </p:cNvPr>
            <p:cNvSpPr txBox="1">
              <a:spLocks/>
            </p:cNvSpPr>
            <p:nvPr/>
          </p:nvSpPr>
          <p:spPr>
            <a:xfrm>
              <a:off x="234310" y="2519921"/>
              <a:ext cx="11291772" cy="54133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>
                  <a:latin typeface="Calibri"/>
                  <a:ea typeface="Calibri"/>
                  <a:cs typeface="Calibri"/>
                </a:rPr>
                <a:t>Feature Standardization</a:t>
              </a:r>
              <a:endParaRPr lang="en-US" sz="2800" dirty="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40" name="Picture 39" descr="A mathematical equation with black text&#10;&#10;AI-generated content may be incorrect.">
              <a:extLst>
                <a:ext uri="{FF2B5EF4-FFF2-40B4-BE49-F238E27FC236}">
                  <a16:creationId xmlns:a16="http://schemas.microsoft.com/office/drawing/2014/main" id="{E26AEFF5-033D-A77F-C12F-4B0BEDDEF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8480" y="3484775"/>
              <a:ext cx="1918804" cy="864194"/>
            </a:xfrm>
            <a:prstGeom prst="rect">
              <a:avLst/>
            </a:prstGeom>
          </p:spPr>
        </p:pic>
        <p:pic>
          <p:nvPicPr>
            <p:cNvPr id="47" name="Picture 46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9BD9E1B0-F885-D4CA-BFF0-75769FF70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2009" y="3204774"/>
              <a:ext cx="5385418" cy="1715101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3626B98-CD74-B017-F16B-A720DA085E3C}"/>
              </a:ext>
            </a:extLst>
          </p:cNvPr>
          <p:cNvGrpSpPr/>
          <p:nvPr/>
        </p:nvGrpSpPr>
        <p:grpSpPr>
          <a:xfrm>
            <a:off x="1355035" y="5042651"/>
            <a:ext cx="7533869" cy="785345"/>
            <a:chOff x="1355035" y="5042651"/>
            <a:chExt cx="7533869" cy="78534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5EC20F5-30E5-5746-B5D2-8853058C610A}"/>
                </a:ext>
              </a:extLst>
            </p:cNvPr>
            <p:cNvSpPr/>
            <p:nvPr/>
          </p:nvSpPr>
          <p:spPr>
            <a:xfrm>
              <a:off x="1355035" y="5042799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Glucose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D8BFA2E-84B8-AC18-0C96-3819D21ECE86}"/>
                </a:ext>
              </a:extLst>
            </p:cNvPr>
            <p:cNvSpPr/>
            <p:nvPr/>
          </p:nvSpPr>
          <p:spPr>
            <a:xfrm>
              <a:off x="1358350" y="5423796"/>
              <a:ext cx="1073426" cy="404193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1.2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B048F6A-4FA5-4734-52E9-53170CA95CF8}"/>
                </a:ext>
              </a:extLst>
            </p:cNvPr>
            <p:cNvSpPr/>
            <p:nvPr/>
          </p:nvSpPr>
          <p:spPr>
            <a:xfrm>
              <a:off x="2435091" y="5046110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BP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F8EA01-FD49-FED3-F247-67659C0DE54E}"/>
                </a:ext>
              </a:extLst>
            </p:cNvPr>
            <p:cNvSpPr/>
            <p:nvPr/>
          </p:nvSpPr>
          <p:spPr>
            <a:xfrm>
              <a:off x="2435091" y="5440364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-0.8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3C6EB6D-EF53-1A76-1087-5AC05E55F5BF}"/>
                </a:ext>
              </a:extLst>
            </p:cNvPr>
            <p:cNvSpPr/>
            <p:nvPr/>
          </p:nvSpPr>
          <p:spPr>
            <a:xfrm>
              <a:off x="3508517" y="5049275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BMI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026EB5E-D0DD-003C-CE89-4F65BAC3990C}"/>
                </a:ext>
              </a:extLst>
            </p:cNvPr>
            <p:cNvSpPr/>
            <p:nvPr/>
          </p:nvSpPr>
          <p:spPr>
            <a:xfrm>
              <a:off x="3508517" y="5440364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1.4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C180D09-92BB-18EB-49EB-61C427129A35}"/>
                </a:ext>
              </a:extLst>
            </p:cNvPr>
            <p:cNvSpPr/>
            <p:nvPr/>
          </p:nvSpPr>
          <p:spPr>
            <a:xfrm>
              <a:off x="4585258" y="5042651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Age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1DF959D-13CF-3334-F409-463D1E3CFC08}"/>
                </a:ext>
              </a:extLst>
            </p:cNvPr>
            <p:cNvSpPr/>
            <p:nvPr/>
          </p:nvSpPr>
          <p:spPr>
            <a:xfrm>
              <a:off x="4585258" y="5433740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1.1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B8F10C0-FE27-169C-E48D-D9E6B8E03427}"/>
                </a:ext>
              </a:extLst>
            </p:cNvPr>
            <p:cNvSpPr/>
            <p:nvPr/>
          </p:nvSpPr>
          <p:spPr>
            <a:xfrm>
              <a:off x="5661998" y="5045966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</a:rPr>
                <a:t>Pregnancy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2A85EC1-80DE-518C-44B4-ECCDB72D740B}"/>
                </a:ext>
              </a:extLst>
            </p:cNvPr>
            <p:cNvSpPr/>
            <p:nvPr/>
          </p:nvSpPr>
          <p:spPr>
            <a:xfrm>
              <a:off x="5661998" y="5437055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384176A-0FF2-5B79-2379-A37BE66D368D}"/>
                </a:ext>
              </a:extLst>
            </p:cNvPr>
            <p:cNvSpPr/>
            <p:nvPr/>
          </p:nvSpPr>
          <p:spPr>
            <a:xfrm>
              <a:off x="6738739" y="5049281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Insulin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44792DB-FBD6-A215-F0C6-B49703A598FA}"/>
                </a:ext>
              </a:extLst>
            </p:cNvPr>
            <p:cNvSpPr/>
            <p:nvPr/>
          </p:nvSpPr>
          <p:spPr>
            <a:xfrm>
              <a:off x="6738739" y="5440370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-0.6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34B61C2-FD3B-34D9-0EC3-E19408C8B81E}"/>
                </a:ext>
              </a:extLst>
            </p:cNvPr>
            <p:cNvSpPr/>
            <p:nvPr/>
          </p:nvSpPr>
          <p:spPr>
            <a:xfrm>
              <a:off x="7815478" y="5042657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DPF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9413C37-4E0E-9F5E-AE88-E7040DA9B491}"/>
                </a:ext>
              </a:extLst>
            </p:cNvPr>
            <p:cNvSpPr/>
            <p:nvPr/>
          </p:nvSpPr>
          <p:spPr>
            <a:xfrm>
              <a:off x="7815478" y="5433746"/>
              <a:ext cx="1073426" cy="38762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0.7</a:t>
              </a:r>
            </a:p>
          </p:txBody>
        </p:sp>
      </p:grp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A8678979-1D94-687B-87DD-141B73171703}"/>
              </a:ext>
            </a:extLst>
          </p:cNvPr>
          <p:cNvSpPr txBox="1">
            <a:spLocks/>
          </p:cNvSpPr>
          <p:nvPr/>
        </p:nvSpPr>
        <p:spPr>
          <a:xfrm>
            <a:off x="450114" y="6074508"/>
            <a:ext cx="11291772" cy="541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alibri"/>
                <a:ea typeface="Calibri"/>
                <a:cs typeface="Calibri"/>
              </a:rPr>
              <a:t>Use Euclidean distance as measure of dissimilarity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493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0A86-CE5F-8618-9B8D-D649DCD2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7D0CEFC-E02F-71F5-89DD-562DD909F065}"/>
              </a:ext>
            </a:extLst>
          </p:cNvPr>
          <p:cNvSpPr txBox="1">
            <a:spLocks/>
          </p:cNvSpPr>
          <p:nvPr/>
        </p:nvSpPr>
        <p:spPr>
          <a:xfrm>
            <a:off x="19878" y="84302"/>
            <a:ext cx="10515600" cy="5413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Experimental Evaluation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A9B0091-3A67-F4E0-795A-F0B07AB576CC}"/>
              </a:ext>
            </a:extLst>
          </p:cNvPr>
          <p:cNvSpPr txBox="1">
            <a:spLocks/>
          </p:cNvSpPr>
          <p:nvPr/>
        </p:nvSpPr>
        <p:spPr>
          <a:xfrm>
            <a:off x="168046" y="791657"/>
            <a:ext cx="11291772" cy="5413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alibri"/>
                <a:ea typeface="Calibri"/>
                <a:cs typeface="Calibri"/>
              </a:rPr>
              <a:t>Datasets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pic>
        <p:nvPicPr>
          <p:cNvPr id="18" name="Picture 17" descr="A black and white text&#10;&#10;AI-generated content may be incorrect.">
            <a:extLst>
              <a:ext uri="{FF2B5EF4-FFF2-40B4-BE49-F238E27FC236}">
                <a16:creationId xmlns:a16="http://schemas.microsoft.com/office/drawing/2014/main" id="{BD0CC877-0CA7-3E38-01C0-D520C7AA5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23" y="1525935"/>
            <a:ext cx="7772400" cy="142258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5968478-3CC9-6A37-50EA-36B7F402B540}"/>
              </a:ext>
            </a:extLst>
          </p:cNvPr>
          <p:cNvGrpSpPr/>
          <p:nvPr/>
        </p:nvGrpSpPr>
        <p:grpSpPr>
          <a:xfrm>
            <a:off x="211116" y="2901013"/>
            <a:ext cx="11656206" cy="3778539"/>
            <a:chOff x="211116" y="2901013"/>
            <a:chExt cx="11656206" cy="3778539"/>
          </a:xfrm>
        </p:grpSpPr>
        <p:sp>
          <p:nvSpPr>
            <p:cNvPr id="20" name="Content Placeholder 2">
              <a:extLst>
                <a:ext uri="{FF2B5EF4-FFF2-40B4-BE49-F238E27FC236}">
                  <a16:creationId xmlns:a16="http://schemas.microsoft.com/office/drawing/2014/main" id="{C94542BC-182A-2092-00BF-F29E940E30CE}"/>
                </a:ext>
              </a:extLst>
            </p:cNvPr>
            <p:cNvSpPr txBox="1">
              <a:spLocks/>
            </p:cNvSpPr>
            <p:nvPr/>
          </p:nvSpPr>
          <p:spPr>
            <a:xfrm>
              <a:off x="211116" y="2901013"/>
              <a:ext cx="11291772" cy="54133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>
                  <a:latin typeface="Calibri"/>
                  <a:ea typeface="Calibri"/>
                  <a:cs typeface="Calibri"/>
                </a:rPr>
                <a:t>Evaluation Metric</a:t>
              </a:r>
              <a:endParaRPr lang="en-US" sz="2800" dirty="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2" name="Picture 21" descr="A math equations with black text&#10;&#10;AI-generated content may be incorrect.">
              <a:extLst>
                <a:ext uri="{FF2B5EF4-FFF2-40B4-BE49-F238E27FC236}">
                  <a16:creationId xmlns:a16="http://schemas.microsoft.com/office/drawing/2014/main" id="{D70922FC-B905-A024-7F89-FD3EDDA17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910" y="3429000"/>
              <a:ext cx="3694873" cy="3250552"/>
            </a:xfrm>
            <a:prstGeom prst="rect">
              <a:avLst/>
            </a:prstGeom>
          </p:spPr>
        </p:pic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6435F05F-C00B-7C32-3ACF-53BA9C2674BD}"/>
                </a:ext>
              </a:extLst>
            </p:cNvPr>
            <p:cNvSpPr txBox="1">
              <a:spLocks/>
            </p:cNvSpPr>
            <p:nvPr/>
          </p:nvSpPr>
          <p:spPr>
            <a:xfrm>
              <a:off x="5277678" y="3358206"/>
              <a:ext cx="6589644" cy="197385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>
                  <a:latin typeface="Calibri"/>
                  <a:ea typeface="Calibri"/>
                  <a:cs typeface="Calibri"/>
                </a:rPr>
                <a:t>For both datasets positive class is important</a:t>
              </a:r>
            </a:p>
            <a:p>
              <a:pPr lvl="1"/>
              <a:endParaRPr lang="en-US" sz="2800" dirty="0">
                <a:latin typeface="Calibri"/>
                <a:ea typeface="Calibri"/>
                <a:cs typeface="Calibri"/>
              </a:endParaRPr>
            </a:p>
            <a:p>
              <a:pPr lvl="1"/>
              <a:r>
                <a:rPr lang="en-US" sz="2800" dirty="0">
                  <a:latin typeface="Calibri"/>
                  <a:ea typeface="Calibri"/>
                  <a:cs typeface="Calibri"/>
                </a:rPr>
                <a:t>Side effect from immunotherapy</a:t>
              </a:r>
            </a:p>
            <a:p>
              <a:pPr lvl="1"/>
              <a:r>
                <a:rPr lang="en-US" sz="2800" dirty="0">
                  <a:latin typeface="Calibri"/>
                  <a:ea typeface="Calibri"/>
                  <a:cs typeface="Calibri"/>
                </a:rPr>
                <a:t>Diabetes onset </a:t>
              </a:r>
            </a:p>
            <a:p>
              <a:pPr lvl="1"/>
              <a:endParaRPr lang="en-US" sz="2800" dirty="0">
                <a:latin typeface="Calibri"/>
                <a:ea typeface="Calibri"/>
                <a:cs typeface="Calibri"/>
              </a:endParaRPr>
            </a:p>
            <a:p>
              <a:endParaRPr lang="en-US" sz="2800" dirty="0"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205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7FFD-D826-7322-3F22-DBE9FB7B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119399A-227B-08B1-1CA5-7DB592C7F683}"/>
              </a:ext>
            </a:extLst>
          </p:cNvPr>
          <p:cNvSpPr txBox="1">
            <a:spLocks/>
          </p:cNvSpPr>
          <p:nvPr/>
        </p:nvSpPr>
        <p:spPr>
          <a:xfrm>
            <a:off x="19878" y="84302"/>
            <a:ext cx="10515600" cy="5413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Experimental Set up and Results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C214CE0-7EC3-A6D4-820B-39E8E830A108}"/>
              </a:ext>
            </a:extLst>
          </p:cNvPr>
          <p:cNvSpPr txBox="1">
            <a:spLocks/>
          </p:cNvSpPr>
          <p:nvPr/>
        </p:nvSpPr>
        <p:spPr>
          <a:xfrm>
            <a:off x="143657" y="899699"/>
            <a:ext cx="5551465" cy="17130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alibri"/>
                <a:ea typeface="Calibri"/>
                <a:cs typeface="Calibri"/>
              </a:rPr>
              <a:t>Setup  Details: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Llama 3.1 8B model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Greedy decoding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Few shots : K = 6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8341624F-59AE-92A9-D0F3-F54AAACEB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78105"/>
            <a:ext cx="6804789" cy="264933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B40279-8B9C-035B-70C9-9AD092BAA1F9}"/>
              </a:ext>
            </a:extLst>
          </p:cNvPr>
          <p:cNvSpPr txBox="1">
            <a:spLocks/>
          </p:cNvSpPr>
          <p:nvPr/>
        </p:nvSpPr>
        <p:spPr>
          <a:xfrm>
            <a:off x="7714558" y="3009778"/>
            <a:ext cx="4401242" cy="2794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RAIL 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improves precision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Degrades Recall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C-RAIL : Best F1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Improves precision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Without degrading recall</a:t>
            </a:r>
          </a:p>
        </p:txBody>
      </p:sp>
    </p:spTree>
    <p:extLst>
      <p:ext uri="{BB962C8B-B14F-4D97-AF65-F5344CB8AC3E}">
        <p14:creationId xmlns:p14="http://schemas.microsoft.com/office/powerpoint/2010/main" val="319493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3666-A1B2-D74F-3D02-371C3D69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01D3AD-CFE9-882D-76E4-FC9FE96B1E58}"/>
              </a:ext>
            </a:extLst>
          </p:cNvPr>
          <p:cNvSpPr txBox="1">
            <a:spLocks/>
          </p:cNvSpPr>
          <p:nvPr/>
        </p:nvSpPr>
        <p:spPr>
          <a:xfrm>
            <a:off x="19878" y="84302"/>
            <a:ext cx="10515600" cy="5413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Conclusions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6258-5ED9-31E1-49FB-57E0A61320EA}"/>
              </a:ext>
            </a:extLst>
          </p:cNvPr>
          <p:cNvSpPr txBox="1">
            <a:spLocks/>
          </p:cNvSpPr>
          <p:nvPr/>
        </p:nvSpPr>
        <p:spPr>
          <a:xfrm>
            <a:off x="168046" y="1253476"/>
            <a:ext cx="11490554" cy="449134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alibri"/>
                <a:ea typeface="Calibri"/>
                <a:cs typeface="Calibri"/>
              </a:rPr>
              <a:t>We proposed C-RAIL – an in-context Learning approach to select similar examples from all the classes in a balanced manner for a given example</a:t>
            </a:r>
          </a:p>
          <a:p>
            <a:endParaRPr lang="en-US" sz="3200" dirty="0">
              <a:latin typeface="Calibri"/>
              <a:ea typeface="Calibri"/>
              <a:cs typeface="Calibri"/>
            </a:endParaRPr>
          </a:p>
          <a:p>
            <a:r>
              <a:rPr lang="en-US" sz="3200" dirty="0">
                <a:latin typeface="Calibri"/>
                <a:ea typeface="Calibri"/>
                <a:cs typeface="Calibri"/>
              </a:rPr>
              <a:t>Our results show that the proposed approach improves the recall numbers and F1 number in case of imbalanced datasets</a:t>
            </a:r>
          </a:p>
          <a:p>
            <a:endParaRPr lang="en-US" sz="3200" dirty="0">
              <a:latin typeface="Calibri"/>
              <a:ea typeface="Calibri"/>
              <a:cs typeface="Calibri"/>
            </a:endParaRPr>
          </a:p>
          <a:p>
            <a:r>
              <a:rPr lang="en-US" sz="3200" dirty="0">
                <a:latin typeface="Calibri"/>
                <a:ea typeface="Calibri"/>
                <a:cs typeface="Calibri"/>
              </a:rPr>
              <a:t> In future work we plan to experiment with embedding based approaches to determine similar examples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8256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31638</TotalTime>
  <Words>523</Words>
  <Application>Microsoft Macintosh PowerPoint</Application>
  <PresentationFormat>Widescreen</PresentationFormat>
  <Paragraphs>156</Paragraphs>
  <Slides>13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236</cp:revision>
  <dcterms:created xsi:type="dcterms:W3CDTF">2025-02-11T18:00:16Z</dcterms:created>
  <dcterms:modified xsi:type="dcterms:W3CDTF">2025-11-15T19:20:51Z</dcterms:modified>
</cp:coreProperties>
</file>